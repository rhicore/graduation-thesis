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</p:sldIdLst>
  <p:sldSz cx="1219136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[P14 致谢 ~0:05] 以上就是我的全部汇报，恳请各位老师批评指正，谢谢！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/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/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/>
        </p:txBody>
      </p:sp>
      <p:sp>
        <p:nvSpPr>
          <p:cNvPr id="5" name="Date Placeholder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/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/>
        </p:txBody>
      </p:sp>
      <p:sp>
        <p:nvSpPr>
          <p:cNvPr id="4" name="Text Placeholder 3"/>
          <p:cNvSpPr/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/>
        </p:txBody>
      </p:sp>
      <p:sp>
        <p:nvSpPr>
          <p:cNvPr id="5" name="Date Placeholder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Date Placeholder 2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/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4" name="Content Placeholder 3"/>
          <p:cNvSpPr/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/>
        </p:txBody>
      </p:sp>
      <p:sp>
        <p:nvSpPr>
          <p:cNvPr id="5" name="Text Placeholder 4"/>
          <p:cNvSpPr/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6" name="Content Placeholder 5"/>
          <p:cNvSpPr/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/>
        </p:txBody>
      </p:sp>
      <p:sp>
        <p:nvSpPr>
          <p:cNvPr id="7" name="Date Placeholder 6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/>
        </p:txBody>
      </p:sp>
      <p:sp>
        <p:nvSpPr>
          <p:cNvPr id="4" name="Content Placeholder 3"/>
          <p:cNvSpPr/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/>
        </p:txBody>
      </p:sp>
      <p:sp>
        <p:nvSpPr>
          <p:cNvPr id="5" name="Date Placeholder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/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/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/>
        </p:txBody>
      </p:sp>
      <p:sp>
        <p:nvSpPr>
          <p:cNvPr id="3" name="Vertical Text Placeholder 2"/>
          <p:cNvSpPr/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/>
          <p:nvPr>
            <p:ph type="body" idx="1"/>
          </p:nvPr>
        </p:nvSpPr>
        <p:spPr/>
        <p:txBody>
          <a:bodyPr vert="eaVert"/>
          <a:lstStyle/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/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/>
        </p:txBody>
      </p:sp>
      <p:sp>
        <p:nvSpPr>
          <p:cNvPr id="4" name="Date Placeholder 3"/>
          <p:cNvSpPr/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/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/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0" y="6473952"/>
            <a:ext cx="12191695" cy="54864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647" y="777240"/>
            <a:ext cx="3200400" cy="936492"/>
          </a:xfrm>
          <a:prstGeom prst="rect">
            <a:avLst/>
          </a:prstGeom>
        </p:spPr>
      </p:pic>
      <p:sp>
        <p:nvSpPr>
          <p:cNvPr id="7" name="TextBox 6"/>
          <p:cNvSpPr>
            <a:spLocks noGrp="1"/>
          </p:cNvSpPr>
          <p:nvPr/>
        </p:nvSpPr>
        <p:spPr>
          <a:xfrm>
            <a:off x="914400" y="2331720"/>
            <a:ext cx="10360152" cy="141630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40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基于语义层的 Text-to-SQL</a:t>
            </a:r>
            <a:endParaRPr sz="40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数据智能体系统设计与实现</a:t>
            </a:r>
            <a:endParaRPr sz="40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449927" y="3858768"/>
            <a:ext cx="32918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914400" y="3950208"/>
            <a:ext cx="10360152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本科毕业设计答辩</a:t>
            </a:r>
            <a:endParaRPr sz="2000" b="1" i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914400" y="4800600"/>
            <a:ext cx="10360152" cy="15113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700" b="1" i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  陈必纯        学号  2222112595        班级  自动化钱2201</a:t>
            </a:r>
            <a:endParaRPr sz="1700" b="1" i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1" i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  </a:t>
            </a:r>
            <a:r>
              <a:rPr lang="zh-CN" sz="1700" b="1" i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王平辉</a:t>
            </a:r>
            <a:endParaRPr sz="1700" b="1" i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西安交通大学  电子与信息学部  自动化专业</a:t>
            </a:r>
            <a:endParaRPr sz="1500" b="1" i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6 月</a:t>
            </a:r>
            <a:endParaRPr sz="1500" b="1" i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研究背景与问题定义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研究背景：Text-to-SQL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1524000"/>
            <a:ext cx="102870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从单次 SQL 生成走向可检索、可验证、可维护的数据智能体</a:t>
            </a: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571500" y="2000250"/>
            <a:ext cx="3429000" cy="1619250"/>
          </a:xfrm>
          <a:prstGeom prst="roundRect">
            <a:avLst>
              <a:gd name="adj" fmla="val 4706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71500" y="2000250"/>
            <a:ext cx="3429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81050" y="2171700"/>
            <a:ext cx="3009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任务变化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0100" y="2590800"/>
            <a:ext cx="2971800" cy="87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传统任务通常是给定自然语言问题和数据库 schema，生成一条可执行 SQL。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真实场景还需要理解值分布、枚举映射、日期边界和指标口径。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4381500" y="2000250"/>
            <a:ext cx="3429000" cy="1619250"/>
          </a:xfrm>
          <a:prstGeom prst="roundRect">
            <a:avLst>
              <a:gd name="adj" fmla="val 4706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381500" y="2000250"/>
            <a:ext cx="342900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591050" y="2171700"/>
            <a:ext cx="3009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系统需求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610100" y="2590800"/>
            <a:ext cx="2971800" cy="87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用户问题往往需要工具执行、数据验证和结果检查。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同一数据库会被反复查询，数据库理解经验应当被复用。</a:t>
            </a: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8191500" y="2000250"/>
            <a:ext cx="3429000" cy="1619250"/>
          </a:xfrm>
          <a:prstGeom prst="roundRect">
            <a:avLst>
              <a:gd name="adj" fmla="val 4706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191500" y="2000250"/>
            <a:ext cx="3429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401050" y="2171700"/>
            <a:ext cx="3009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本文关注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420100" y="2590800"/>
            <a:ext cx="2971800" cy="87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在原始数据和大模型智能体之间维护一个可查询、可更新、可复用的语义层，使智能体先获取证据再生成 SQL。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238250" y="4953000"/>
            <a:ext cx="9715500" cy="5143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本毕设</a:t>
            </a:r>
            <a:r>
              <a:rPr lang="zh-CN"/>
              <a:t>的关注重点</a:t>
            </a:r>
            <a:r>
              <a:rPr lang="en-US" altLang="zh-CN"/>
              <a:t>--</a:t>
            </a:r>
            <a:r>
              <a:rPr lang="zh-CN" altLang="en-US"/>
              <a:t>把</a:t>
            </a:r>
            <a:r>
              <a:t>数据库理解</a:t>
            </a:r>
            <a:r>
              <a:rPr lang="zh-CN"/>
              <a:t>转化成</a:t>
            </a:r>
            <a:r>
              <a:t>可维护的系统资产</a:t>
            </a:r>
            <a:r>
              <a:rPr lang="en-US"/>
              <a:t>(</a:t>
            </a:r>
            <a:r>
              <a:rPr lang="zh-CN" altLang="en-US"/>
              <a:t>知识图谱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研究背景与问题定义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现有方法的主要不足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1524000"/>
            <a:ext cx="102870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单题式求解在长期数据智能体场景下存在三类瓶颈</a:t>
            </a:r>
          </a:p>
        </p:txBody>
      </p:sp>
      <p:sp>
        <p:nvSpPr>
          <p:cNvPr id="37" name="圆角矩形 3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71500" y="1952625"/>
            <a:ext cx="3429000" cy="2190750"/>
          </a:xfrm>
          <a:prstGeom prst="roundRect">
            <a:avLst>
              <a:gd name="adj" fmla="val 3478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38" name="矩形 3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71500" y="1952625"/>
            <a:ext cx="3429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9" name="矩形 3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81050" y="2124075"/>
            <a:ext cx="3009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上下文临时拼接</a:t>
            </a:r>
          </a:p>
        </p:txBody>
      </p:sp>
      <p:sp>
        <p:nvSpPr>
          <p:cNvPr id="40" name="矩形 3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0100" y="2543175"/>
            <a:ext cx="29718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每道题重新拼接 schema、样例值和检索结果。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连接路径、字段解释和错误经验难以沉淀。</a:t>
            </a:r>
          </a:p>
        </p:txBody>
      </p:sp>
      <p:sp>
        <p:nvSpPr>
          <p:cNvPr id="41" name="圆角矩形 4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81500" y="1952625"/>
            <a:ext cx="3429000" cy="2190750"/>
          </a:xfrm>
          <a:prstGeom prst="roundRect">
            <a:avLst>
              <a:gd name="adj" fmla="val 3478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381500" y="1952625"/>
            <a:ext cx="342900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43" name="矩形 4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591050" y="2124075"/>
            <a:ext cx="3009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数据库语义</a:t>
            </a:r>
            <a:r>
              <a:t>不稳定</a:t>
            </a: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610100" y="2543175"/>
            <a:ext cx="29718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表名和列名不能完整表达字段语义。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隐式外键、枚举别名和业务口径需要查询真实数据确认。</a:t>
            </a:r>
          </a:p>
        </p:txBody>
      </p:sp>
      <p:sp>
        <p:nvSpPr>
          <p:cNvPr id="45" name="圆角矩形 4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91500" y="1952625"/>
            <a:ext cx="3429000" cy="2190750"/>
          </a:xfrm>
          <a:prstGeom prst="roundRect">
            <a:avLst>
              <a:gd name="adj" fmla="val 3478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6" name="矩形 4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191500" y="1952625"/>
            <a:ext cx="3429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47" name="矩形 4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401050" y="2124075"/>
            <a:ext cx="3009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评测指标</a:t>
            </a:r>
            <a:r>
              <a:t>不充分</a:t>
            </a:r>
          </a:p>
        </p:txBody>
      </p:sp>
      <p:sp>
        <p:nvSpPr>
          <p:cNvPr id="48" name="矩形 4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420100" y="2543175"/>
            <a:ext cx="29718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执行准确率可复现，但不能单独评价在线成本、缓存复用、错误归因和可维护性。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347470" y="5253355"/>
            <a:ext cx="9549130" cy="499745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因此，本</a:t>
            </a:r>
            <a:r>
              <a:rPr lang="zh-CN"/>
              <a:t>工作将传统范式下单次的大模型静态生成</a:t>
            </a:r>
            <a:r>
              <a:rPr>
                <a:sym typeface="+mn-ea"/>
              </a:rPr>
              <a:t>，</a:t>
            </a:r>
            <a:r>
              <a:rPr lang="zh-CN">
                <a:sym typeface="+mn-ea"/>
              </a:rPr>
              <a:t>转化成具有工具调用能力的</a:t>
            </a:r>
            <a:r>
              <a:rPr lang="en-US" altLang="zh-CN">
                <a:sym typeface="+mn-ea"/>
              </a:rPr>
              <a:t> agent </a:t>
            </a:r>
            <a:r>
              <a:rPr lang="zh-CN" altLang="en-US">
                <a:sym typeface="+mn-ea"/>
              </a:rPr>
              <a:t>自主分析</a:t>
            </a:r>
            <a:r>
              <a:rPr lang="zh-CN" altLang="en-US">
                <a:sym typeface="+mn-ea"/>
              </a:rPr>
              <a:t>过程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系统总体设计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 系统</a:t>
            </a:r>
            <a:r>
              <a:rPr lang="zh-CN"/>
              <a:t>架构</a:t>
            </a:r>
            <a:endParaRPr lang="zh-CN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1524000"/>
            <a:ext cx="102870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在原始数据和 LLM 查询智能体之间加入语义层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350645" y="5680710"/>
            <a:ext cx="10096500" cy="5334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预处理阶段写入语义层，在线阶段按需检索、读取和验证，并将稳定上下文转化为可缓存、可复用资产。</a:t>
            </a:r>
          </a:p>
        </p:txBody>
      </p:sp>
      <p:pic>
        <p:nvPicPr>
          <p:cNvPr id="50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265" y="1861820"/>
            <a:ext cx="6630035" cy="3616325"/>
          </a:xfrm>
          <a:prstGeom prst="rect">
            <a:avLst/>
          </a:prstGeom>
        </p:spPr>
      </p:pic>
      <p:sp>
        <p:nvSpPr>
          <p:cNvPr id="9" name="文本框 8"/>
          <p:cNvSpPr>
            <a:spLocks noGrp="1"/>
          </p:cNvSpPr>
          <p:nvPr/>
        </p:nvSpPr>
        <p:spPr>
          <a:xfrm>
            <a:off x="1699260" y="4544695"/>
            <a:ext cx="15551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物理数据层</a:t>
            </a: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1650365" y="2032635"/>
            <a:ext cx="15551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语义层</a:t>
            </a: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929765" y="2507615"/>
            <a:ext cx="127571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专为 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阅读设计的视图，屏蔽底层物理细节，降低 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认知负荷。</a:t>
            </a:r>
            <a:endParaRPr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2056765" y="4949190"/>
            <a:ext cx="127571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不同场景、不同架构环境下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的物理文件</a:t>
            </a:r>
            <a:endParaRPr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系统总体设计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 系统架构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257300" y="2195830"/>
            <a:ext cx="1524000" cy="4191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模块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781300" y="2195830"/>
            <a:ext cx="2381250" cy="4191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作用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62550" y="2195830"/>
            <a:ext cx="6572250" cy="4191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具体内容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257300" y="2614930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数据源</a:t>
            </a:r>
            <a:r>
              <a:rPr lang="zh-CN"/>
              <a:t>访问</a:t>
            </a:r>
            <a:endParaRPr lang="zh-CN"/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781300" y="261493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提供待分析数据</a:t>
            </a:r>
            <a:r>
              <a:rPr lang="zh-CN"/>
              <a:t>访问</a:t>
            </a:r>
            <a:r>
              <a:rPr lang="zh-CN"/>
              <a:t>接口</a:t>
            </a:r>
            <a:endParaRPr lang="zh-CN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162550" y="2614930"/>
            <a:ext cx="6572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提供针对</a:t>
            </a:r>
            <a:r>
              <a:rPr lang="en-US" altLang="zh-CN"/>
              <a:t> </a:t>
            </a:r>
            <a:r>
              <a:t>SQLite、CSV/JSON、文本文件、说明文档</a:t>
            </a:r>
            <a:r>
              <a:rPr lang="zh-CN"/>
              <a:t>等原始数据的访问</a:t>
            </a:r>
            <a:r>
              <a:rPr lang="zh-CN"/>
              <a:t>接口</a:t>
            </a:r>
            <a:endParaRPr lang="zh-CN"/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257300" y="3449955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语义层</a:t>
            </a:r>
            <a:r>
              <a:rPr lang="zh-CN"/>
              <a:t>存储</a:t>
            </a:r>
            <a:endParaRPr lang="zh-CN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781300" y="345313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维护可查询上下文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162550" y="3486785"/>
            <a:ext cx="6572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Neo4j 属性图</a:t>
            </a:r>
            <a:r>
              <a:rPr lang="zh-CN"/>
              <a:t>存储的知识图谱</a:t>
            </a:r>
            <a:endParaRPr lang="zh-CN"/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257300" y="3034030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信息提取器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781300" y="303403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离线生成语义资产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162550" y="3034030"/>
            <a:ext cx="6572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对于原始数据执行</a:t>
            </a:r>
            <a:r>
              <a:t>列统计、外键验证、列重叠、AI 摘要、向量索引</a:t>
            </a:r>
            <a:r>
              <a:rPr lang="zh-CN"/>
              <a:t>等知识</a:t>
            </a:r>
            <a:r>
              <a:rPr lang="zh-CN"/>
              <a:t>提取</a:t>
            </a:r>
            <a:endParaRPr lang="zh-CN"/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257300" y="3872230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查询智能体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781300" y="387223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在线回答问题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162550" y="3872230"/>
            <a:ext cx="6572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调用 find、meta、query 等工具生成 SQL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571625" y="5334000"/>
            <a:ext cx="9048750" cy="4762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语义层保存源事实、派生信息和经验记录，使数据库上下文能被检索、缓存和更新。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143250" y="5857875"/>
            <a:ext cx="59055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代码开源：https://github.com/rhicore/Pontis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核心方法与关键技术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离线阶段：构建可复用语义层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2000250"/>
            <a:ext cx="4953000" cy="2381250"/>
          </a:xfrm>
          <a:prstGeom prst="roundRect">
            <a:avLst>
              <a:gd name="adj" fmla="val 3200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2000250"/>
            <a:ext cx="4953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76300" y="2171700"/>
            <a:ext cx="4533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自动化提取</a:t>
            </a:r>
            <a:r>
              <a:rPr lang="en-US"/>
              <a:t> </a:t>
            </a:r>
            <a:r>
              <a:rPr lang="en-US"/>
              <a:t>extractor</a:t>
            </a:r>
            <a:endParaRPr lang="en-US"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14400" y="2590800"/>
            <a:ext cx="4495800" cy="163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发布数据库、表、列和外键等源事实。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计算列级统计、样例值、列重叠关系。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生成语义向量索引，支持自然语言检索。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6572250" y="2000250"/>
            <a:ext cx="4953000" cy="2381250"/>
          </a:xfrm>
          <a:prstGeom prst="roundRect">
            <a:avLst>
              <a:gd name="adj" fmla="val 3200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72250" y="2000250"/>
            <a:ext cx="495300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781800" y="2171700"/>
            <a:ext cx="4533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探索智能体</a:t>
            </a:r>
            <a:r>
              <a:rPr lang="en-US"/>
              <a:t> </a:t>
            </a:r>
            <a:r>
              <a:rPr lang="en-US"/>
              <a:t>explorer</a:t>
            </a:r>
            <a:endParaRPr lang="en-US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800850" y="2590800"/>
            <a:ext cx="4495800" cy="163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生成数据库级 README，压缩整体 schema 信息。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为表列补充局部语义提示。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发现</a:t>
            </a:r>
            <a:r>
              <a:rPr lang="en-US"/>
              <a:t> join </a:t>
            </a:r>
            <a:r>
              <a:t>连接线索</a:t>
            </a:r>
            <a:r>
              <a:rPr>
                <a:sym typeface="+mn-ea"/>
              </a:rPr>
              <a:t>。</a:t>
            </a:r>
            <a:endParaRPr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记录字段消歧经验。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333500" y="5143500"/>
            <a:ext cx="9525000" cy="4953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在预处理阶段生成</a:t>
            </a:r>
            <a:r>
              <a:t>可维护的语义层资产</a:t>
            </a:r>
            <a:r>
              <a:rPr>
                <a:sym typeface="+mn-ea"/>
              </a:rPr>
              <a:t>，</a:t>
            </a:r>
            <a:r>
              <a:rPr lang="zh-CN">
                <a:sym typeface="+mn-ea"/>
              </a:rPr>
              <a:t>为后续的在线查询阶段提供资源</a:t>
            </a:r>
            <a:r>
              <a:rPr>
                <a:sym typeface="+mn-ea"/>
              </a:rPr>
              <a:t>。</a:t>
            </a:r>
            <a:endParaRPr lang="zh-CN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核心方法与关键技术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在线阶段：工具调用与护栏验证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952625"/>
            <a:ext cx="5143500" cy="2667000"/>
          </a:xfrm>
          <a:prstGeom prst="roundRect">
            <a:avLst>
              <a:gd name="adj" fmla="val 2857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952625"/>
            <a:ext cx="51435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76300" y="2124075"/>
            <a:ext cx="47244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查询流程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2543175"/>
            <a:ext cx="4686300" cy="1924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 find 检索相关表、列和经验记录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 meta 读取元数据、统计、样例值和邻接关系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 query 执行 SQL 片段验证过滤值、连接路径和中间结果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4. 生成最终 SQL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6381750" y="1952625"/>
            <a:ext cx="5143500" cy="2667000"/>
          </a:xfrm>
          <a:prstGeom prst="roundRect">
            <a:avLst>
              <a:gd name="adj" fmla="val 2857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381750" y="1952625"/>
            <a:ext cx="514350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591300" y="2124075"/>
            <a:ext cx="47244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护栏</a:t>
            </a:r>
            <a:r>
              <a:rPr lang="zh-CN"/>
              <a:t>机制</a:t>
            </a:r>
            <a:endParaRPr lang="zh-CN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610350" y="2543175"/>
            <a:ext cx="4686300" cy="1924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SQL 实体检查：避免引用未核实表列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桥接表检查：提示遗漏中间表风险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消歧检查：检查字段口径冲突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值命中检查：防止使用无法命中的字面值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最终 SQL 自检：核对输出列、排序、聚合和 SQLite 写法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381250" y="5286375"/>
            <a:ext cx="742950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护栏把高风险假设留在最终输出之前处理。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系统实现与实验验证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实验设置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952625"/>
            <a:ext cx="4953000" cy="1762125"/>
          </a:xfrm>
          <a:prstGeom prst="roundRect">
            <a:avLst>
              <a:gd name="adj" fmla="val 4324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952625"/>
            <a:ext cx="4953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76300" y="2124075"/>
            <a:ext cx="4533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数据集与指标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2543175"/>
            <a:ext cx="449580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BIRD dev：11 个数据库，1534 道自然语言问题。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指标：执行准确率，即预测 SQL 与 gold SQL 的执行结果是否一致。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6572250" y="1952625"/>
            <a:ext cx="4953000" cy="1762125"/>
          </a:xfrm>
          <a:prstGeom prst="roundRect">
            <a:avLst>
              <a:gd name="adj" fmla="val 4324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72250" y="1952625"/>
            <a:ext cx="495300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781800" y="2124075"/>
            <a:ext cx="4533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评测</a:t>
            </a:r>
            <a:r>
              <a:rPr lang="zh-CN"/>
              <a:t>方法</a:t>
            </a:r>
            <a:endParaRPr lang="zh-CN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800850" y="2543175"/>
            <a:ext cx="4495800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零样本设置；不使用 BIRD train 中的 gold SQL、问题答案或 few-shot 示例。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各方法使用同一数据库划分、同一执行脚本和同一模型配置。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238250" y="4095750"/>
            <a:ext cx="2095500" cy="3238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方法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333750" y="4095750"/>
            <a:ext cx="7620000" cy="3238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类型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38250" y="4419600"/>
            <a:ext cx="2095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Bash Agent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333750" y="4419600"/>
            <a:ext cx="7620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给予</a:t>
            </a:r>
            <a:r>
              <a:t> bash </a:t>
            </a:r>
            <a:r>
              <a:t>通用工具</a:t>
            </a:r>
            <a:r>
              <a:t>的基线</a:t>
            </a:r>
            <a:r>
              <a:t> agent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238250" y="4743450"/>
            <a:ext cx="2095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3333750" y="4743450"/>
            <a:ext cx="7620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语义层与查询智能体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238250" y="5067300"/>
            <a:ext cx="2095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CHESS-fast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333750" y="5067300"/>
            <a:ext cx="7620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多智能体</a:t>
            </a:r>
            <a:r>
              <a:t> text to sql </a:t>
            </a:r>
            <a:r>
              <a:t>框架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238250" y="5391150"/>
            <a:ext cx="2095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Alpha-SQL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333750" y="5391150"/>
            <a:ext cx="7620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MCTS 搜索式 SQL 构造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238250" y="5715000"/>
            <a:ext cx="2095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DeepEye-SQL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3333750" y="5715000"/>
            <a:ext cx="7620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value retrieval、schema linking、revision、selection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系统实现与实验验证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实验结果与</a:t>
            </a:r>
            <a:r>
              <a:rPr lang="zh-CN"/>
              <a:t>性能</a:t>
            </a:r>
            <a:r>
              <a:rPr lang="zh-CN"/>
              <a:t>分析</a:t>
            </a:r>
            <a:endParaRPr lang="zh-CN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1524000"/>
            <a:ext cx="102870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准确率作为可用性前提，资源结构解释语义层的系统取舍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928620" y="1809750"/>
            <a:ext cx="1428750" cy="4000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方法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357370" y="1809750"/>
            <a:ext cx="1095375" cy="4000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准确率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452745" y="1809750"/>
            <a:ext cx="1285875" cy="4000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Cached/Q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738620" y="1809750"/>
            <a:ext cx="1285875" cy="4000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Uncached/Q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024495" y="1809750"/>
            <a:ext cx="1285875" cy="4000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Output/Q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928620" y="2209800"/>
            <a:ext cx="1428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357370" y="2209800"/>
            <a:ext cx="1095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65.38%</a:t>
            </a:r>
            <a:endParaRPr b="1"/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452745" y="220980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156569.7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738620" y="220980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u="sng"/>
              <a:t>6651.9</a:t>
            </a:r>
            <a:endParaRPr u="sng"/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024495" y="220980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u="sng"/>
              <a:t>3174.7</a:t>
            </a:r>
            <a:endParaRPr u="sng"/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928620" y="2609850"/>
            <a:ext cx="1428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DeepEye-SQL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357370" y="2609850"/>
            <a:ext cx="1095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u="sng"/>
              <a:t>65.25%</a:t>
            </a:r>
            <a:endParaRPr u="sng"/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452745" y="260985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4253.7</a:t>
            </a:r>
            <a:endParaRPr b="1"/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738620" y="260985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12637.4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024495" y="260985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5430.2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2928620" y="3009900"/>
            <a:ext cx="1428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Bash Agent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4357370" y="3009900"/>
            <a:ext cx="1095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60.04%</a:t>
            </a: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452745" y="300990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u="sng"/>
              <a:t>6079.7</a:t>
            </a:r>
            <a:endParaRPr u="sng"/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738620" y="300990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1544.8</a:t>
            </a:r>
            <a:endParaRPr b="1"/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024495" y="300990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1897.9</a:t>
            </a:r>
            <a:endParaRPr b="1"/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2928620" y="3409950"/>
            <a:ext cx="1428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CHESS-fast</a:t>
            </a: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4357370" y="3409950"/>
            <a:ext cx="1095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58.67%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452745" y="340995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11191.5</a:t>
            </a: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738620" y="340995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15880.8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024495" y="3409950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5142.9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857250" y="4105275"/>
            <a:ext cx="5619750" cy="1095375"/>
          </a:xfrm>
          <a:prstGeom prst="roundRect">
            <a:avLst>
              <a:gd name="adj" fmla="val 6957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57250" y="4105275"/>
            <a:ext cx="561975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1066800" y="4276725"/>
            <a:ext cx="52006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精度</a:t>
            </a:r>
            <a:r>
              <a:t>指标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1085850" y="4695825"/>
            <a:ext cx="5162550" cy="352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 比 Bash Agent 高 5.34 个百分点；与 </a:t>
            </a:r>
            <a:r>
              <a:t>目前开源</a:t>
            </a:r>
            <a:r>
              <a:t> SOTA </a:t>
            </a:r>
            <a:r>
              <a:t>方法</a:t>
            </a:r>
            <a:r>
              <a:t>DeepEye-SQL </a:t>
            </a:r>
            <a:r>
              <a:t>准确度接近</a:t>
            </a:r>
            <a:r>
              <a:t>。</a:t>
            </a: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6858000" y="409575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6858000" y="4095750"/>
            <a:ext cx="47625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7067550" y="4267200"/>
            <a:ext cx="43434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效率指标</a:t>
            </a: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086600" y="4686300"/>
            <a:ext cx="4305300" cy="810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 的</a:t>
            </a:r>
            <a:r>
              <a:t>图谱系统提示词导致</a:t>
            </a:r>
            <a:r>
              <a:t> cached input 较高，但 uncached input </a:t>
            </a:r>
            <a:r>
              <a:t>和</a:t>
            </a:r>
            <a:r>
              <a:t> output </a:t>
            </a:r>
            <a:r>
              <a:t>低于 DeepEye-SQL 和 CHESS-fast，说明</a:t>
            </a:r>
            <a:r>
              <a:t> agent </a:t>
            </a:r>
            <a:r>
              <a:t>通过访问图谱语义层来提高数分析效率</a:t>
            </a:r>
            <a: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系统实现与实验验证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价格折算成本分析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714500" y="1714500"/>
            <a:ext cx="8763000" cy="4381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 deepseek-v4-flash 为例</a:t>
            </a:r>
            <a:r>
              <a:rPr>
                <a:sym typeface="+mn-ea"/>
              </a:rPr>
              <a:t>，</a:t>
            </a:r>
            <a:r>
              <a:t>目前的</a:t>
            </a:r>
            <a:r>
              <a:t>LLM API token </a:t>
            </a:r>
            <a:r>
              <a:t>价格比例如下</a:t>
            </a:r>
            <a:r>
              <a:t> </a:t>
            </a:r>
            <a:r>
              <a:t>：</a:t>
            </a:r>
          </a:p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cached input : uncached input : output</a:t>
            </a:r>
            <a:r>
              <a:t> = 0.02 : 1 : 2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095500" y="2667000"/>
            <a:ext cx="2476500" cy="4381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方法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572000" y="2667000"/>
            <a:ext cx="3143250" cy="4381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在线阶段</a:t>
            </a:r>
            <a:r>
              <a:rPr lang="zh-CN">
                <a:sym typeface="+mn-ea"/>
              </a:rPr>
              <a:t>相对</a:t>
            </a:r>
            <a:r>
              <a:t>成本/Q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715250" y="2667000"/>
            <a:ext cx="3714750" cy="4381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加入预处理摊销后</a:t>
            </a:r>
            <a:r>
              <a:rPr lang="zh-CN"/>
              <a:t>相对</a:t>
            </a:r>
            <a:r>
              <a:t>成本/Q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095500" y="3105150"/>
            <a:ext cx="2476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Bash Agent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572000" y="3105150"/>
            <a:ext cx="3143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5462.1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715250" y="3105150"/>
            <a:ext cx="3714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5462.1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095500" y="3543300"/>
            <a:ext cx="2476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572000" y="3543300"/>
            <a:ext cx="3143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16132.8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715250" y="3543300"/>
            <a:ext cx="3714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18709.1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095500" y="3981450"/>
            <a:ext cx="2476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DeepEye-SQL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572000" y="3981450"/>
            <a:ext cx="3143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23582.9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715250" y="3981450"/>
            <a:ext cx="3714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23582.9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095500" y="4419600"/>
            <a:ext cx="2476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CHESS-fast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572000" y="4419600"/>
            <a:ext cx="3143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26390.4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715250" y="4419600"/>
            <a:ext cx="3714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26390.4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619250" y="5286375"/>
            <a:ext cx="89535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 用前期语义层构建成本，换取后续查询中的上下文复用和较低非缓存输入。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系统实现与实验验证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增量维护与长期使用场景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圆角矩形 3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6750" y="2000250"/>
            <a:ext cx="3333750" cy="2286000"/>
          </a:xfrm>
          <a:prstGeom prst="roundRect">
            <a:avLst>
              <a:gd name="adj" fmla="val 3333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37" name="矩形 3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66750" y="2000250"/>
            <a:ext cx="333375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8" name="矩形 3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76300" y="2171700"/>
            <a:ext cx="29146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适用场景</a:t>
            </a:r>
          </a:p>
        </p:txBody>
      </p:sp>
      <p:sp>
        <p:nvSpPr>
          <p:cNvPr id="39" name="矩形 3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5350" y="2590800"/>
            <a:ext cx="2876550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业务人员围绕同一数据仓库持续提问。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分析师反复查询同一组表和指标。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数据库结构和字段含义需要逐步维护。</a:t>
            </a:r>
          </a:p>
        </p:txBody>
      </p:sp>
      <p:sp>
        <p:nvSpPr>
          <p:cNvPr id="40" name="圆角矩形 3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29125" y="2000250"/>
            <a:ext cx="3333750" cy="2286000"/>
          </a:xfrm>
          <a:prstGeom prst="roundRect">
            <a:avLst>
              <a:gd name="adj" fmla="val 3333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1" name="矩形 4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429125" y="2000250"/>
            <a:ext cx="333375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38675" y="2171700"/>
            <a:ext cx="29146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与基线差异</a:t>
            </a:r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657725" y="2590800"/>
            <a:ext cx="2876550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Bash Agent 在线成本低，具有实时性</a:t>
            </a:r>
            <a:r>
              <a:rPr>
                <a:sym typeface="+mn-ea"/>
              </a:rPr>
              <a:t>，</a:t>
            </a:r>
            <a:r>
              <a:rPr lang="zh-CN">
                <a:sym typeface="+mn-ea"/>
              </a:rPr>
              <a:t>但不具备知识更新能力</a:t>
            </a:r>
            <a:r>
              <a:rPr>
                <a:sym typeface="+mn-ea"/>
              </a:rPr>
              <a:t>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多阶段 pipeline 单题流程清晰，但预处理资产粒度较粗。</a:t>
            </a:r>
          </a:p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 可按表、列和子图更新。</a:t>
            </a:r>
          </a:p>
        </p:txBody>
      </p:sp>
      <p:sp>
        <p:nvSpPr>
          <p:cNvPr id="44" name="圆角矩形 4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91500" y="2000250"/>
            <a:ext cx="3333750" cy="2286000"/>
          </a:xfrm>
          <a:prstGeom prst="roundRect">
            <a:avLst>
              <a:gd name="adj" fmla="val 3333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5" name="矩形 4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191500" y="2000250"/>
            <a:ext cx="333375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46" name="矩形 4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401050" y="2171700"/>
            <a:ext cx="29146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核心结论</a:t>
            </a:r>
          </a:p>
        </p:txBody>
      </p:sp>
      <p:sp>
        <p:nvSpPr>
          <p:cNvPr id="47" name="矩形 4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420100" y="2590800"/>
            <a:ext cx="2876550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 的价值不是任意单题成本最低，而是在长期数据分析场景中提供可复用、可审计、可增量维护的数据库语义工作空间。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61862"/>
            <a:ext cx="6858000" cy="33464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 </a:t>
            </a: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局限性</a:t>
            </a: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为什么讨论执行准确率的边界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819150" y="1676400"/>
            <a:ext cx="1038225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尽管静态基准的</a:t>
            </a:r>
            <a:r>
              <a:rPr lang="zh-CN" altLang="en-US"/>
              <a:t>执行准确率显著提高了基准的真实性</a:t>
            </a:r>
            <a:r>
              <a:t>，但真实数据智能体还要面对交互、复用、成本和维护</a:t>
            </a:r>
            <a:r>
              <a:rPr lang="zh-CN"/>
              <a:t>等目标</a:t>
            </a:r>
            <a:r>
              <a:rPr>
                <a:sym typeface="+mn-ea"/>
              </a:rPr>
              <a:t>，</a:t>
            </a:r>
            <a:r>
              <a:rPr lang="zh-CN">
                <a:sym typeface="+mn-ea"/>
              </a:rPr>
              <a:t>执行结果一致</a:t>
            </a:r>
            <a:r>
              <a:rPr lang="zh-CN" altLang="en-US"/>
              <a:t>并不总是等价于系统是否满足了用户真实分析目标</a:t>
            </a:r>
            <a:r>
              <a:rPr>
                <a:solidFill>
                  <a:schemeClr val="tx1"/>
                </a:solidFill>
                <a:sym typeface="+mn-ea"/>
              </a:rPr>
              <a:t>。</a:t>
            </a:r>
            <a:endParaRPr lang="en-US" altLang="zh-CN"/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781050" y="2667000"/>
            <a:ext cx="2381250" cy="1619250"/>
          </a:xfrm>
          <a:prstGeom prst="rect">
            <a:avLst/>
          </a:prstGeom>
          <a:solidFill>
            <a:srgbClr val="F6F9FD"/>
          </a:solidFill>
          <a:ln w="9525">
            <a:solidFill>
              <a:srgbClr val="2E74B5"/>
            </a:solidFill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781050" y="2667000"/>
            <a:ext cx="2381250" cy="47625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933450" y="2838450"/>
            <a:ext cx="207645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静态单轮</a:t>
            </a: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33450" y="3181350"/>
            <a:ext cx="2076450" cy="1028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每题独立生成一条 SQL；不允许追问用户，也不累计同一数据库的历史经验。</a:t>
            </a: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3448050" y="2667000"/>
            <a:ext cx="2381250" cy="1619250"/>
          </a:xfrm>
          <a:prstGeom prst="rect">
            <a:avLst/>
          </a:prstGeom>
          <a:solidFill>
            <a:srgbClr val="F6F9FD"/>
          </a:solidFill>
          <a:ln w="9525">
            <a:solidFill>
              <a:srgbClr val="E88915"/>
            </a:solidFill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3448050" y="2667000"/>
            <a:ext cx="2381250" cy="47625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3600450" y="2838450"/>
            <a:ext cx="207645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Gold SQL 单一</a:t>
            </a: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3600450" y="3181350"/>
            <a:ext cx="2076450" cy="1028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评测只接受一种执行结果形态；辅助列、排序、格式或聚合粒度差异都可能被判错。</a:t>
            </a: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115050" y="2667000"/>
            <a:ext cx="2381250" cy="1619250"/>
          </a:xfrm>
          <a:prstGeom prst="rect">
            <a:avLst/>
          </a:prstGeom>
          <a:solidFill>
            <a:srgbClr val="F6F9FD"/>
          </a:solidFill>
          <a:ln w="9525">
            <a:solidFill>
              <a:srgbClr val="1F4E79"/>
            </a:solidFill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115050" y="2667000"/>
            <a:ext cx="2381250" cy="47625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6267450" y="2838450"/>
            <a:ext cx="207645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问题语义欠定</a:t>
            </a: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267450" y="3181350"/>
            <a:ext cx="2076450" cy="1028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latest、ratio、last edit 等表达常隐含业务口径；静态 benchmark 不能通过澄清消除歧义。</a:t>
            </a: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8782050" y="2667000"/>
            <a:ext cx="2381250" cy="1619250"/>
          </a:xfrm>
          <a:prstGeom prst="rect">
            <a:avLst/>
          </a:prstGeom>
          <a:solidFill>
            <a:srgbClr val="F6F9FD"/>
          </a:solidFill>
          <a:ln w="9525">
            <a:solidFill>
              <a:srgbClr val="C00000"/>
            </a:solidFill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8782050" y="2667000"/>
            <a:ext cx="2381250" cy="476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8934450" y="2838450"/>
            <a:ext cx="207645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系统能力缺口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8934450" y="3181350"/>
            <a:ext cx="2076450" cy="1028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执行准确率不直接刻画 token 成本、缓存复用、错误归因和数据库变化后的维护能力。</a:t>
            </a: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1428750" y="5191125"/>
            <a:ext cx="93345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因此，本章把</a:t>
            </a:r>
            <a:r>
              <a:rPr lang="zh-CN">
                <a:solidFill>
                  <a:schemeClr val="tx1"/>
                </a:solidFill>
              </a:rPr>
              <a:t>静态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</a:rPr>
              <a:t>benchmark </a:t>
            </a:r>
            <a:r>
              <a:rPr lang="zh-CN">
                <a:solidFill>
                  <a:schemeClr val="tx1"/>
                </a:solidFill>
              </a:rPr>
              <a:t>的局限性</a:t>
            </a:r>
            <a:r>
              <a:rPr lang="zh-CN">
                <a:solidFill>
                  <a:schemeClr val="tx1"/>
                </a:solidFill>
              </a:rPr>
              <a:t>主要分为两层</a:t>
            </a:r>
            <a:r>
              <a:rPr>
                <a:solidFill>
                  <a:schemeClr val="tx1"/>
                </a:solidFill>
              </a:rPr>
              <a:t>：</a:t>
            </a:r>
            <a:r>
              <a:rPr>
                <a:solidFill>
                  <a:srgbClr val="FF0000"/>
                </a:solidFill>
              </a:rPr>
              <a:t>SQL 多重可达性、Query 语义欠定性</a:t>
            </a:r>
            <a:endParaRPr>
              <a:solidFill>
                <a:srgbClr val="FF0000"/>
              </a:solidFill>
            </a:endParaRPr>
          </a:p>
          <a:p>
            <a: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>
                <a:solidFill>
                  <a:schemeClr val="tx1"/>
                </a:solidFill>
              </a:rPr>
              <a:t>并通过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</a:rPr>
              <a:t>Bash Agent </a:t>
            </a:r>
            <a:r>
              <a:rPr lang="zh-CN">
                <a:solidFill>
                  <a:schemeClr val="tx1"/>
                </a:solidFill>
              </a:rPr>
              <a:t>的</a:t>
            </a:r>
            <a:r>
              <a:rPr>
                <a:solidFill>
                  <a:schemeClr val="tx1"/>
                </a:solidFill>
              </a:rPr>
              <a:t>错误归因</a:t>
            </a:r>
            <a:r>
              <a:rPr lang="zh-CN">
                <a:solidFill>
                  <a:schemeClr val="tx1"/>
                </a:solidFill>
              </a:rPr>
              <a:t>来印证这一点</a:t>
            </a:r>
            <a:r>
              <a:rPr>
                <a:solidFill>
                  <a:schemeClr val="tx1"/>
                </a:solidFill>
              </a:rPr>
              <a:t>。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61862"/>
            <a:ext cx="6858000" cy="33464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 </a:t>
            </a:r>
            <a:r>
              <a:rPr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局限性分析</a:t>
            </a:r>
            <a:endParaRPr b="1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SQL 多重可达性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800100" y="1714500"/>
            <a:ext cx="4953000" cy="1257300"/>
          </a:xfrm>
          <a:prstGeom prst="rect">
            <a:avLst/>
          </a:prstGeom>
          <a:solidFill>
            <a:srgbClr val="F6F9FD"/>
          </a:solidFill>
          <a:ln w="9525">
            <a:solidFill>
              <a:srgbClr val="2E74B5"/>
            </a:solidFill>
          </a:ln>
        </p:spPr>
      </p:sp>
      <p:sp>
        <p:nvSpPr>
          <p:cNvPr id="137" name="矩形 136"/>
          <p:cNvSpPr>
            <a:spLocks noGrp="1"/>
          </p:cNvSpPr>
          <p:nvPr/>
        </p:nvSpPr>
        <p:spPr>
          <a:xfrm>
            <a:off x="800100" y="1714500"/>
            <a:ext cx="4953000" cy="47625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952500" y="1885950"/>
            <a:ext cx="464820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问题含义</a:t>
            </a: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952500" y="2228850"/>
            <a:ext cx="4648200" cy="66675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同一个业务目标可能有多种合理 SQL 结果形态。EX 比较的是执行结果是否与 gold SQL 一致，而不是所有业务可接受答案。</a:t>
            </a: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6438900" y="1714500"/>
            <a:ext cx="4762500" cy="1257300"/>
          </a:xfrm>
          <a:prstGeom prst="rect">
            <a:avLst/>
          </a:prstGeom>
          <a:solidFill>
            <a:srgbClr val="F6F9FD"/>
          </a:solidFill>
          <a:ln w="9525">
            <a:solidFill>
              <a:srgbClr val="E88915"/>
            </a:solidFill>
          </a:ln>
        </p:spPr>
      </p:sp>
      <p:sp>
        <p:nvSpPr>
          <p:cNvPr id="141" name="矩形 140"/>
          <p:cNvSpPr>
            <a:spLocks noGrp="1"/>
          </p:cNvSpPr>
          <p:nvPr/>
        </p:nvSpPr>
        <p:spPr>
          <a:xfrm>
            <a:off x="6438900" y="1714500"/>
            <a:ext cx="4762500" cy="47625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6591300" y="1885950"/>
            <a:ext cx="445770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常见差异</a:t>
            </a: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6591300" y="2228850"/>
            <a:ext cx="4457700" cy="66675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输出列、排序方式、数值类型、小数格式、聚合粒度、DISTINCT / LIMIT 写法，都会改变执行结果形状。</a:t>
            </a: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876300" y="3429000"/>
            <a:ext cx="1714500" cy="4572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45" name="矩形 144"/>
          <p:cNvSpPr>
            <a:spLocks noGrp="1"/>
          </p:cNvSpPr>
          <p:nvPr/>
        </p:nvSpPr>
        <p:spPr>
          <a:xfrm>
            <a:off x="952500" y="3448050"/>
            <a:ext cx="156210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案例</a:t>
            </a:r>
          </a:p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2590800" y="3429000"/>
            <a:ext cx="2571750" cy="4572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47" name="矩形 146"/>
          <p:cNvSpPr>
            <a:spLocks noGrp="1"/>
          </p:cNvSpPr>
          <p:nvPr/>
        </p:nvSpPr>
        <p:spPr>
          <a:xfrm>
            <a:off x="2667000" y="3448050"/>
            <a:ext cx="241935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Bash Agent</a:t>
            </a:r>
          </a:p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5162550" y="3429000"/>
            <a:ext cx="2095500" cy="4572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5238750" y="3448050"/>
            <a:ext cx="194310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Gold SQL</a:t>
            </a:r>
          </a:p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7258050" y="3429000"/>
            <a:ext cx="3762375" cy="4572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51" name="矩形 150"/>
          <p:cNvSpPr>
            <a:spLocks noGrp="1"/>
          </p:cNvSpPr>
          <p:nvPr/>
        </p:nvSpPr>
        <p:spPr>
          <a:xfrm>
            <a:off x="7334250" y="3448050"/>
            <a:ext cx="3609975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归因</a:t>
            </a: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876300" y="388620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53" name="矩形 152"/>
          <p:cNvSpPr>
            <a:spLocks noGrp="1"/>
          </p:cNvSpPr>
          <p:nvPr/>
        </p:nvSpPr>
        <p:spPr>
          <a:xfrm>
            <a:off x="952500" y="3905250"/>
            <a:ext cx="156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card_games/q390</a:t>
            </a: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2590800" y="388620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2667000" y="3905250"/>
            <a:ext cx="241935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id, colors, format</a:t>
            </a:r>
          </a:p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5162550" y="3886200"/>
            <a:ext cx="2095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57" name="矩形 156"/>
          <p:cNvSpPr>
            <a:spLocks noGrp="1"/>
          </p:cNvSpPr>
          <p:nvPr/>
        </p:nvSpPr>
        <p:spPr>
          <a:xfrm>
            <a:off x="5238750" y="3905250"/>
            <a:ext cx="1943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colors, format</a:t>
            </a: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7258050" y="3886200"/>
            <a:ext cx="3762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59" name="矩形 158"/>
          <p:cNvSpPr>
            <a:spLocks noGrp="1"/>
          </p:cNvSpPr>
          <p:nvPr/>
        </p:nvSpPr>
        <p:spPr>
          <a:xfrm>
            <a:off x="7334250" y="3905250"/>
            <a:ext cx="36099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额外 id 有助识别卡牌，但改变输出列</a:t>
            </a: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876300" y="4343400"/>
            <a:ext cx="1714500" cy="45720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952500" y="4362450"/>
            <a:ext cx="1562100" cy="4191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/>
              <a:t>superhero/q729</a:t>
            </a:r>
            <a:endParaRPr lang="en-US" altLang="zh-CN"/>
          </a:p>
        </p:txBody>
      </p:sp>
      <p:sp>
        <p:nvSpPr>
          <p:cNvPr id="162" name="矩形 161"/>
          <p:cNvSpPr>
            <a:spLocks noGrp="1"/>
          </p:cNvSpPr>
          <p:nvPr/>
        </p:nvSpPr>
        <p:spPr>
          <a:xfrm>
            <a:off x="2590800" y="4343400"/>
            <a:ext cx="2571750" cy="45720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63" name="矩形 162"/>
          <p:cNvSpPr>
            <a:spLocks noGrp="1"/>
          </p:cNvSpPr>
          <p:nvPr/>
        </p:nvSpPr>
        <p:spPr>
          <a:xfrm>
            <a:off x="2667000" y="4362450"/>
            <a:ext cx="2419350" cy="4191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/>
              <a:t>注意到</a:t>
            </a:r>
            <a:r>
              <a:rPr lang="en-US" altLang="zh-CN"/>
              <a:t> weight_kg=0 </a:t>
            </a:r>
            <a:r>
              <a:rPr lang="zh-CN" altLang="en-US"/>
              <a:t>缺失项</a:t>
            </a:r>
            <a:r>
              <a:rPr lang="en-US" altLang="zh-CN"/>
              <a:t>,</a:t>
            </a:r>
            <a:r>
              <a:rPr lang="zh-CN" altLang="en-US"/>
              <a:t>执行了</a:t>
            </a:r>
            <a:r>
              <a:rPr lang="zh-CN" altLang="en-US"/>
              <a:t>清洗</a:t>
            </a:r>
            <a:endParaRPr lang="zh-CN" altLang="en-US"/>
          </a:p>
        </p:txBody>
      </p:sp>
      <p:sp>
        <p:nvSpPr>
          <p:cNvPr id="164" name="矩形 163"/>
          <p:cNvSpPr>
            <a:spLocks noGrp="1"/>
          </p:cNvSpPr>
          <p:nvPr/>
        </p:nvSpPr>
        <p:spPr>
          <a:xfrm>
            <a:off x="5162550" y="4343400"/>
            <a:ext cx="2095500" cy="45720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65" name="矩形 164"/>
          <p:cNvSpPr>
            <a:spLocks noGrp="1"/>
          </p:cNvSpPr>
          <p:nvPr/>
        </p:nvSpPr>
        <p:spPr>
          <a:xfrm>
            <a:off x="5238750" y="4362450"/>
            <a:ext cx="1943100" cy="4191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不执行缺失项</a:t>
            </a:r>
            <a:r>
              <a:rPr lang="zh-CN"/>
              <a:t>清洗</a:t>
            </a:r>
            <a:endParaRPr lang="zh-CN"/>
          </a:p>
        </p:txBody>
      </p:sp>
      <p:sp>
        <p:nvSpPr>
          <p:cNvPr id="166" name="矩形 165"/>
          <p:cNvSpPr>
            <a:spLocks noGrp="1"/>
          </p:cNvSpPr>
          <p:nvPr/>
        </p:nvSpPr>
        <p:spPr>
          <a:xfrm>
            <a:off x="7258050" y="4343400"/>
            <a:ext cx="3762375" cy="45720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67" name="矩形 166"/>
          <p:cNvSpPr>
            <a:spLocks noGrp="1"/>
          </p:cNvSpPr>
          <p:nvPr/>
        </p:nvSpPr>
        <p:spPr>
          <a:xfrm>
            <a:off x="7334250" y="4362450"/>
            <a:ext cx="3609975" cy="4191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清洗缺失项有助于清晰化结果报表</a:t>
            </a:r>
            <a:r>
              <a:rPr>
                <a:sym typeface="+mn-ea"/>
              </a:rPr>
              <a:t>，</a:t>
            </a:r>
            <a:r>
              <a:rPr lang="zh-CN">
                <a:sym typeface="+mn-ea"/>
              </a:rPr>
              <a:t>但改变了输出</a:t>
            </a:r>
            <a:r>
              <a:rPr lang="zh-CN">
                <a:sym typeface="+mn-ea"/>
              </a:rPr>
              <a:t>行</a:t>
            </a:r>
            <a:endParaRPr lang="zh-CN">
              <a:sym typeface="+mn-ea"/>
            </a:endParaRPr>
          </a:p>
        </p:txBody>
      </p:sp>
      <p:sp>
        <p:nvSpPr>
          <p:cNvPr id="168" name="矩形 167"/>
          <p:cNvSpPr>
            <a:spLocks noGrp="1"/>
          </p:cNvSpPr>
          <p:nvPr/>
        </p:nvSpPr>
        <p:spPr>
          <a:xfrm>
            <a:off x="876300" y="480060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69" name="矩形 168"/>
          <p:cNvSpPr>
            <a:spLocks noGrp="1"/>
          </p:cNvSpPr>
          <p:nvPr/>
        </p:nvSpPr>
        <p:spPr>
          <a:xfrm>
            <a:off x="952500" y="4819650"/>
            <a:ext cx="1562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toxicology/q226</a:t>
            </a:r>
          </a:p>
        </p:txBody>
      </p:sp>
      <p:sp>
        <p:nvSpPr>
          <p:cNvPr id="170" name="矩形 169"/>
          <p:cNvSpPr>
            <a:spLocks noGrp="1"/>
          </p:cNvSpPr>
          <p:nvPr/>
        </p:nvSpPr>
        <p:spPr>
          <a:xfrm>
            <a:off x="2590800" y="480060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71" name="矩形 170"/>
          <p:cNvSpPr>
            <a:spLocks noGrp="1"/>
          </p:cNvSpPr>
          <p:nvPr/>
        </p:nvSpPr>
        <p:spPr>
          <a:xfrm>
            <a:off x="2667000" y="4819650"/>
            <a:ext cx="241935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printf 固定五位小数</a:t>
            </a:r>
          </a:p>
        </p:txBody>
      </p:sp>
      <p:sp>
        <p:nvSpPr>
          <p:cNvPr id="172" name="矩形 171"/>
          <p:cNvSpPr>
            <a:spLocks noGrp="1"/>
          </p:cNvSpPr>
          <p:nvPr/>
        </p:nvSpPr>
        <p:spPr>
          <a:xfrm>
            <a:off x="5162550" y="4800600"/>
            <a:ext cx="2095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73" name="矩形 172"/>
          <p:cNvSpPr>
            <a:spLocks noGrp="1"/>
          </p:cNvSpPr>
          <p:nvPr/>
        </p:nvSpPr>
        <p:spPr>
          <a:xfrm>
            <a:off x="5238750" y="4819650"/>
            <a:ext cx="19431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ROUND 数值</a:t>
            </a:r>
          </a:p>
        </p:txBody>
      </p:sp>
      <p:sp>
        <p:nvSpPr>
          <p:cNvPr id="174" name="矩形 173"/>
          <p:cNvSpPr>
            <a:spLocks noGrp="1"/>
          </p:cNvSpPr>
          <p:nvPr/>
        </p:nvSpPr>
        <p:spPr>
          <a:xfrm>
            <a:off x="7258050" y="4800600"/>
            <a:ext cx="3762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75" name="矩形 174"/>
          <p:cNvSpPr>
            <a:spLocks noGrp="1"/>
          </p:cNvSpPr>
          <p:nvPr/>
        </p:nvSpPr>
        <p:spPr>
          <a:xfrm>
            <a:off x="7334250" y="4819650"/>
            <a:ext cx="36099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格式字符串与数值类型不一致</a:t>
            </a: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>
            <a:off x="1428750" y="5476875"/>
            <a:ext cx="93345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结论：这类错误</a:t>
            </a:r>
            <a:r>
              <a:rPr lang="zh-CN"/>
              <a:t>并非</a:t>
            </a:r>
            <a:r>
              <a:t>是 SQL 语法或 schema 理解失败，而是没有对齐 benchmark 的输出契约</a:t>
            </a:r>
            <a:r>
              <a:rPr lang="zh-CN"/>
              <a:t>和语法风格</a:t>
            </a:r>
            <a: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61862"/>
            <a:ext cx="6858000" cy="33464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 </a:t>
            </a:r>
            <a:r>
              <a:rPr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局限性分析</a:t>
            </a:r>
            <a:endParaRPr b="1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Query 语义欠定性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876300" y="1695450"/>
            <a:ext cx="10287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自然语言问题常省略业务口径，</a:t>
            </a:r>
            <a:r>
              <a:rPr lang="zh-CN"/>
              <a:t>用户的一段自然语言查询可能有多种解释</a:t>
            </a:r>
            <a:r>
              <a:t>；</a:t>
            </a:r>
          </a:p>
          <a:p>
            <a:pPr algn="ctr">
              <a:defRPr sz="15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但</a:t>
            </a:r>
            <a:r>
              <a:t>静态评测</a:t>
            </a:r>
            <a:r>
              <a:rPr lang="zh-CN"/>
              <a:t>只允许</a:t>
            </a:r>
            <a:r>
              <a:rPr lang="en-US" altLang="zh-CN"/>
              <a:t> agent </a:t>
            </a:r>
            <a:r>
              <a:rPr lang="zh-CN" altLang="en-US"/>
              <a:t>选择其中的一种解释输出</a:t>
            </a:r>
            <a:r>
              <a:rPr lang="zh-CN" altLang="en-US"/>
              <a:t>答案</a:t>
            </a:r>
            <a:endParaRPr lang="zh-CN" altLang="en-US"/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952500" y="2476500"/>
            <a:ext cx="2095500" cy="4381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1028700" y="2495550"/>
            <a:ext cx="1943100" cy="4000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欠定表达</a:t>
            </a: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3048000" y="2476500"/>
            <a:ext cx="4476750" cy="4381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17" name="矩形 116"/>
          <p:cNvSpPr>
            <a:spLocks noGrp="1"/>
          </p:cNvSpPr>
          <p:nvPr/>
        </p:nvSpPr>
        <p:spPr>
          <a:xfrm>
            <a:off x="3124200" y="2495550"/>
            <a:ext cx="4324350" cy="4000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可能解释</a:t>
            </a: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7524750" y="2476500"/>
            <a:ext cx="3429000" cy="4381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7600950" y="2495550"/>
            <a:ext cx="3276600" cy="4000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静态基准中的风险</a:t>
            </a: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952500" y="2914650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21" name="矩形 120"/>
          <p:cNvSpPr>
            <a:spLocks noGrp="1"/>
          </p:cNvSpPr>
          <p:nvPr/>
        </p:nvSpPr>
        <p:spPr>
          <a:xfrm>
            <a:off x="1028700" y="2933700"/>
            <a:ext cx="19431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latest / current / last</a:t>
            </a: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3048000" y="2914650"/>
            <a:ext cx="4476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3124200" y="2933700"/>
            <a:ext cx="432435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创建时间、更新时间、历史记录、当前字段</a:t>
            </a:r>
          </a:p>
        </p:txBody>
      </p:sp>
      <p:sp>
        <p:nvSpPr>
          <p:cNvPr id="124" name="矩形 123"/>
          <p:cNvSpPr>
            <a:spLocks noGrp="1"/>
          </p:cNvSpPr>
          <p:nvPr/>
        </p:nvSpPr>
        <p:spPr>
          <a:xfrm>
            <a:off x="7524750" y="2914650"/>
            <a:ext cx="3429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25" name="矩形 124"/>
          <p:cNvSpPr>
            <a:spLocks noGrp="1"/>
          </p:cNvSpPr>
          <p:nvPr/>
        </p:nvSpPr>
        <p:spPr>
          <a:xfrm>
            <a:off x="7600950" y="2933700"/>
            <a:ext cx="3276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选错时间来源即判错</a:t>
            </a:r>
          </a:p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952500" y="3352800"/>
            <a:ext cx="2095500" cy="4381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27" name="矩形 126"/>
          <p:cNvSpPr>
            <a:spLocks noGrp="1"/>
          </p:cNvSpPr>
          <p:nvPr/>
        </p:nvSpPr>
        <p:spPr>
          <a:xfrm>
            <a:off x="1028700" y="3371850"/>
            <a:ext cx="1943100" cy="4000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examined between</a:t>
            </a:r>
          </a:p>
        </p:txBody>
      </p:sp>
      <p:sp>
        <p:nvSpPr>
          <p:cNvPr id="128" name="矩形 127"/>
          <p:cNvSpPr>
            <a:spLocks noGrp="1"/>
          </p:cNvSpPr>
          <p:nvPr/>
        </p:nvSpPr>
        <p:spPr>
          <a:xfrm>
            <a:off x="3048000" y="3352800"/>
            <a:ext cx="4476750" cy="4381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3124200" y="3371850"/>
            <a:ext cx="4324350" cy="4000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检查表日期或实验室检测日期</a:t>
            </a:r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7524750" y="3352800"/>
            <a:ext cx="3429000" cy="4381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7600950" y="3371850"/>
            <a:ext cx="3276600" cy="4000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不同表日期字段导致行集不同</a:t>
            </a: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952500" y="3790950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33" name="矩形 132"/>
          <p:cNvSpPr>
            <a:spLocks noGrp="1"/>
          </p:cNvSpPr>
          <p:nvPr/>
        </p:nvSpPr>
        <p:spPr>
          <a:xfrm>
            <a:off x="1028700" y="3810000"/>
            <a:ext cx="19431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ratio / percentage</a:t>
            </a: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3048000" y="3790950"/>
            <a:ext cx="4476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3124200" y="3810000"/>
            <a:ext cx="432435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是否乘 100、按行还是按实体聚合</a:t>
            </a: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7524750" y="3790950"/>
            <a:ext cx="3429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37" name="矩形 136"/>
          <p:cNvSpPr>
            <a:spLocks noGrp="1"/>
          </p:cNvSpPr>
          <p:nvPr/>
        </p:nvSpPr>
        <p:spPr>
          <a:xfrm>
            <a:off x="7600950" y="3810000"/>
            <a:ext cx="3276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数值口径和格式差异</a:t>
            </a: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952500" y="4229100"/>
            <a:ext cx="2095500" cy="4381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39" name="矩形 138"/>
          <p:cNvSpPr>
            <a:spLocks noGrp="1"/>
          </p:cNvSpPr>
          <p:nvPr/>
        </p:nvSpPr>
        <p:spPr>
          <a:xfrm>
            <a:off x="1028700" y="4248150"/>
            <a:ext cx="1943100" cy="4000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输出对象</a:t>
            </a: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3048000" y="4229100"/>
            <a:ext cx="4476750" cy="4381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41" name="矩形 140"/>
          <p:cNvSpPr>
            <a:spLocks noGrp="1"/>
          </p:cNvSpPr>
          <p:nvPr/>
        </p:nvSpPr>
        <p:spPr>
          <a:xfrm>
            <a:off x="3124200" y="4248150"/>
            <a:ext cx="4324350" cy="4000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id、名称、解释列或最小答案列</a:t>
            </a:r>
          </a:p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7524750" y="4229100"/>
            <a:ext cx="3429000" cy="4381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43" name="矩形 142"/>
          <p:cNvSpPr>
            <a:spLocks noGrp="1"/>
          </p:cNvSpPr>
          <p:nvPr/>
        </p:nvSpPr>
        <p:spPr>
          <a:xfrm>
            <a:off x="7600950" y="4248150"/>
            <a:ext cx="3276600" cy="4000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业务上更完整也可能多列判错</a:t>
            </a: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1104900" y="4781550"/>
            <a:ext cx="9982200" cy="933450"/>
          </a:xfrm>
          <a:prstGeom prst="rect">
            <a:avLst/>
          </a:prstGeom>
          <a:solidFill>
            <a:srgbClr val="F6F9FD"/>
          </a:solidFill>
          <a:ln w="9525">
            <a:solidFill>
              <a:srgbClr val="1F4E79"/>
            </a:solidFill>
          </a:ln>
        </p:spPr>
      </p:sp>
      <p:sp>
        <p:nvSpPr>
          <p:cNvPr id="145" name="矩形 144"/>
          <p:cNvSpPr>
            <a:spLocks noGrp="1"/>
          </p:cNvSpPr>
          <p:nvPr/>
        </p:nvSpPr>
        <p:spPr>
          <a:xfrm>
            <a:off x="1104900" y="4781550"/>
            <a:ext cx="9982200" cy="47625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257300" y="4953000"/>
            <a:ext cx="967740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具体</a:t>
            </a:r>
            <a:r>
              <a:t>案例</a:t>
            </a:r>
          </a:p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1257300" y="5295900"/>
            <a:ext cx="9677400" cy="3429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codebase_community/q689 的 “last to edit” 可指历史编辑记录、last-editor 字段，或 gold SQL 使用的 owner；thrombosis_prediction/q1187 的 examined date 也存在 Laboratory.Date 与 Examination Date 的来源歧义。</a:t>
            </a:r>
          </a:p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1524000" y="5905500"/>
            <a:ext cx="91440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这种错误的本质</a:t>
            </a:r>
            <a:r>
              <a:rPr lang="zh-CN"/>
              <a:t>来源于自然语言的模糊性</a:t>
            </a:r>
            <a:r>
              <a:rPr>
                <a:sym typeface="+mn-ea"/>
              </a:rPr>
              <a:t>，</a:t>
            </a:r>
            <a:r>
              <a:t>真实系统可以追问或记录口径；</a:t>
            </a:r>
          </a:p>
          <a:p>
            <a:pPr algn="ctr"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而</a:t>
            </a:r>
            <a:r>
              <a:t>静态 benchmark 会把这些歧义压缩为一次性预测错误。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61862"/>
            <a:ext cx="6858000" cy="33464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 </a:t>
            </a:r>
            <a:r>
              <a:rPr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局限性分析</a:t>
            </a:r>
            <a:endParaRPr b="1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对</a:t>
            </a:r>
            <a:r>
              <a:rPr lang="en-US" altLang="zh-CN"/>
              <a:t> Bash Agent </a:t>
            </a:r>
            <a:r>
              <a:rPr lang="zh-CN" altLang="en-US"/>
              <a:t>的</a:t>
            </a:r>
            <a:r>
              <a:t>错误归因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151" name="矩形 150"/>
          <p:cNvSpPr>
            <a:spLocks noGrp="1"/>
          </p:cNvSpPr>
          <p:nvPr/>
        </p:nvSpPr>
        <p:spPr>
          <a:xfrm>
            <a:off x="990600" y="1676400"/>
            <a:ext cx="1809750" cy="9144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990600" y="1771650"/>
            <a:ext cx="180975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22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613</a:t>
            </a: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066800" y="2228850"/>
            <a:ext cx="1657350" cy="2857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Bash Agent 错误样本</a:t>
            </a: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3276600" y="1676400"/>
            <a:ext cx="2000250" cy="9144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3276600" y="1771650"/>
            <a:ext cx="200025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225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23.7%</a:t>
            </a:r>
          </a:p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3352800" y="2228850"/>
            <a:ext cx="1847850" cy="2857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数据库探索可修复</a:t>
            </a:r>
          </a:p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5753100" y="1676400"/>
            <a:ext cx="2476500" cy="9144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58" name="矩形 157"/>
          <p:cNvSpPr>
            <a:spLocks noGrp="1"/>
          </p:cNvSpPr>
          <p:nvPr/>
        </p:nvSpPr>
        <p:spPr>
          <a:xfrm>
            <a:off x="5753100" y="1771650"/>
            <a:ext cx="247650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76.3%</a:t>
            </a: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5829300" y="2228850"/>
            <a:ext cx="2324100" cy="2857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输出要求 + 隐含先验</a:t>
            </a: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8705850" y="1676400"/>
            <a:ext cx="2095500" cy="91440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8705850" y="1771650"/>
            <a:ext cx="2095500" cy="4191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2250"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 类</a:t>
            </a:r>
          </a:p>
        </p:txBody>
      </p:sp>
      <p:sp>
        <p:nvSpPr>
          <p:cNvPr id="162" name="矩形 161"/>
          <p:cNvSpPr>
            <a:spLocks noGrp="1"/>
          </p:cNvSpPr>
          <p:nvPr/>
        </p:nvSpPr>
        <p:spPr>
          <a:xfrm>
            <a:off x="8782050" y="2228850"/>
            <a:ext cx="1943100" cy="2857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错误来源需要拆开解释</a:t>
            </a:r>
          </a:p>
        </p:txBody>
      </p:sp>
      <p:sp>
        <p:nvSpPr>
          <p:cNvPr id="163" name="矩形 162"/>
          <p:cNvSpPr>
            <a:spLocks noGrp="1"/>
          </p:cNvSpPr>
          <p:nvPr/>
        </p:nvSpPr>
        <p:spPr>
          <a:xfrm>
            <a:off x="742950" y="3143250"/>
            <a:ext cx="3143250" cy="4762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64" name="矩形 163"/>
          <p:cNvSpPr>
            <a:spLocks noGrp="1"/>
          </p:cNvSpPr>
          <p:nvPr/>
        </p:nvSpPr>
        <p:spPr>
          <a:xfrm>
            <a:off x="819150" y="3162300"/>
            <a:ext cx="2990850" cy="4381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类别</a:t>
            </a:r>
          </a:p>
        </p:txBody>
      </p:sp>
      <p:sp>
        <p:nvSpPr>
          <p:cNvPr id="165" name="矩形 164"/>
          <p:cNvSpPr>
            <a:spLocks noGrp="1"/>
          </p:cNvSpPr>
          <p:nvPr/>
        </p:nvSpPr>
        <p:spPr>
          <a:xfrm>
            <a:off x="3886200" y="3143250"/>
            <a:ext cx="857250" cy="4762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66" name="矩形 165"/>
          <p:cNvSpPr>
            <a:spLocks noGrp="1"/>
          </p:cNvSpPr>
          <p:nvPr/>
        </p:nvSpPr>
        <p:spPr>
          <a:xfrm>
            <a:off x="3962400" y="3162300"/>
            <a:ext cx="704850" cy="4381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数量</a:t>
            </a:r>
          </a:p>
        </p:txBody>
      </p:sp>
      <p:sp>
        <p:nvSpPr>
          <p:cNvPr id="167" name="矩形 166"/>
          <p:cNvSpPr>
            <a:spLocks noGrp="1"/>
          </p:cNvSpPr>
          <p:nvPr/>
        </p:nvSpPr>
        <p:spPr>
          <a:xfrm>
            <a:off x="4743450" y="3143250"/>
            <a:ext cx="904875" cy="4762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68" name="矩形 167"/>
          <p:cNvSpPr>
            <a:spLocks noGrp="1"/>
          </p:cNvSpPr>
          <p:nvPr/>
        </p:nvSpPr>
        <p:spPr>
          <a:xfrm>
            <a:off x="4819650" y="3162300"/>
            <a:ext cx="752475" cy="4381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占比</a:t>
            </a:r>
          </a:p>
        </p:txBody>
      </p:sp>
      <p:sp>
        <p:nvSpPr>
          <p:cNvPr id="169" name="矩形 168"/>
          <p:cNvSpPr>
            <a:spLocks noGrp="1"/>
          </p:cNvSpPr>
          <p:nvPr/>
        </p:nvSpPr>
        <p:spPr>
          <a:xfrm>
            <a:off x="5648325" y="3143250"/>
            <a:ext cx="6477000" cy="476250"/>
          </a:xfrm>
          <a:prstGeom prst="rect">
            <a:avLst/>
          </a:prstGeom>
          <a:solidFill>
            <a:srgbClr val="EAF2FA"/>
          </a:solidFill>
          <a:ln w="9525">
            <a:solidFill>
              <a:srgbClr val="D8E3EF"/>
            </a:solidFill>
          </a:ln>
        </p:spPr>
      </p:sp>
      <p:sp>
        <p:nvSpPr>
          <p:cNvPr id="170" name="矩形 169"/>
          <p:cNvSpPr>
            <a:spLocks noGrp="1"/>
          </p:cNvSpPr>
          <p:nvPr/>
        </p:nvSpPr>
        <p:spPr>
          <a:xfrm>
            <a:off x="5724525" y="3162300"/>
            <a:ext cx="6324600" cy="4381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含义</a:t>
            </a:r>
          </a:p>
        </p:txBody>
      </p:sp>
      <p:sp>
        <p:nvSpPr>
          <p:cNvPr id="171" name="矩形 170"/>
          <p:cNvSpPr>
            <a:spLocks noGrp="1"/>
          </p:cNvSpPr>
          <p:nvPr/>
        </p:nvSpPr>
        <p:spPr>
          <a:xfrm>
            <a:off x="742950" y="3619500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72" name="矩形 171"/>
          <p:cNvSpPr>
            <a:spLocks noGrp="1"/>
          </p:cNvSpPr>
          <p:nvPr/>
        </p:nvSpPr>
        <p:spPr>
          <a:xfrm>
            <a:off x="819150" y="3638550"/>
            <a:ext cx="299085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BIRD SQL 风格与输出要求</a:t>
            </a:r>
          </a:p>
        </p:txBody>
      </p:sp>
      <p:sp>
        <p:nvSpPr>
          <p:cNvPr id="173" name="矩形 172"/>
          <p:cNvSpPr>
            <a:spLocks noGrp="1"/>
          </p:cNvSpPr>
          <p:nvPr/>
        </p:nvSpPr>
        <p:spPr>
          <a:xfrm>
            <a:off x="3886200" y="3619500"/>
            <a:ext cx="857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74" name="矩形 173"/>
          <p:cNvSpPr>
            <a:spLocks noGrp="1"/>
          </p:cNvSpPr>
          <p:nvPr/>
        </p:nvSpPr>
        <p:spPr>
          <a:xfrm>
            <a:off x="3962400" y="3638550"/>
            <a:ext cx="70485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246</a:t>
            </a:r>
          </a:p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4743450" y="3619500"/>
            <a:ext cx="90487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76" name="矩形 175"/>
          <p:cNvSpPr>
            <a:spLocks noGrp="1"/>
          </p:cNvSpPr>
          <p:nvPr/>
        </p:nvSpPr>
        <p:spPr>
          <a:xfrm>
            <a:off x="4819650" y="3638550"/>
            <a:ext cx="752475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40.1%</a:t>
            </a:r>
          </a:p>
        </p:txBody>
      </p:sp>
      <p:sp>
        <p:nvSpPr>
          <p:cNvPr id="177" name="矩形 176"/>
          <p:cNvSpPr>
            <a:spLocks noGrp="1"/>
          </p:cNvSpPr>
          <p:nvPr/>
        </p:nvSpPr>
        <p:spPr>
          <a:xfrm>
            <a:off x="5648325" y="3619500"/>
            <a:ext cx="6477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78" name="矩形 177"/>
          <p:cNvSpPr>
            <a:spLocks noGrp="1"/>
          </p:cNvSpPr>
          <p:nvPr/>
        </p:nvSpPr>
        <p:spPr>
          <a:xfrm>
            <a:off x="5724525" y="3638550"/>
            <a:ext cx="63246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对于数据库的业务理解正确</a:t>
            </a:r>
            <a:r>
              <a:rPr>
                <a:sym typeface="+mn-ea"/>
              </a:rPr>
              <a:t>，</a:t>
            </a:r>
            <a:r>
              <a:rPr lang="zh-CN">
                <a:sym typeface="+mn-ea"/>
              </a:rPr>
              <a:t>但</a:t>
            </a:r>
            <a:r>
              <a:t>列、排序、格式、聚合粒度或 DISTINCT/LIMIT 与 gold 不一致</a:t>
            </a:r>
          </a:p>
        </p:txBody>
      </p:sp>
      <p:sp>
        <p:nvSpPr>
          <p:cNvPr id="179" name="矩形 178"/>
          <p:cNvSpPr>
            <a:spLocks noGrp="1"/>
          </p:cNvSpPr>
          <p:nvPr/>
        </p:nvSpPr>
        <p:spPr>
          <a:xfrm>
            <a:off x="742950" y="4095750"/>
            <a:ext cx="3143250" cy="4762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80" name="矩形 179"/>
          <p:cNvSpPr>
            <a:spLocks noGrp="1"/>
          </p:cNvSpPr>
          <p:nvPr/>
        </p:nvSpPr>
        <p:spPr>
          <a:xfrm>
            <a:off x="819150" y="4114800"/>
            <a:ext cx="2990850" cy="4381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数据库探索可修复</a:t>
            </a:r>
          </a:p>
        </p:txBody>
      </p:sp>
      <p:sp>
        <p:nvSpPr>
          <p:cNvPr id="181" name="矩形 180"/>
          <p:cNvSpPr>
            <a:spLocks noGrp="1"/>
          </p:cNvSpPr>
          <p:nvPr/>
        </p:nvSpPr>
        <p:spPr>
          <a:xfrm>
            <a:off x="3886200" y="4095750"/>
            <a:ext cx="857250" cy="4762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82" name="矩形 181"/>
          <p:cNvSpPr>
            <a:spLocks noGrp="1"/>
          </p:cNvSpPr>
          <p:nvPr/>
        </p:nvSpPr>
        <p:spPr>
          <a:xfrm>
            <a:off x="3962400" y="4114800"/>
            <a:ext cx="704850" cy="4381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145</a:t>
            </a:r>
          </a:p>
        </p:txBody>
      </p:sp>
      <p:sp>
        <p:nvSpPr>
          <p:cNvPr id="183" name="矩形 182"/>
          <p:cNvSpPr>
            <a:spLocks noGrp="1"/>
          </p:cNvSpPr>
          <p:nvPr/>
        </p:nvSpPr>
        <p:spPr>
          <a:xfrm>
            <a:off x="4743450" y="4095750"/>
            <a:ext cx="904875" cy="4762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84" name="矩形 183"/>
          <p:cNvSpPr>
            <a:spLocks noGrp="1"/>
          </p:cNvSpPr>
          <p:nvPr/>
        </p:nvSpPr>
        <p:spPr>
          <a:xfrm>
            <a:off x="4819650" y="4114800"/>
            <a:ext cx="752475" cy="4381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23.7%</a:t>
            </a:r>
          </a:p>
        </p:txBody>
      </p:sp>
      <p:sp>
        <p:nvSpPr>
          <p:cNvPr id="185" name="矩形 184"/>
          <p:cNvSpPr>
            <a:spLocks noGrp="1"/>
          </p:cNvSpPr>
          <p:nvPr/>
        </p:nvSpPr>
        <p:spPr>
          <a:xfrm>
            <a:off x="5648325" y="4095750"/>
            <a:ext cx="6477000" cy="476250"/>
          </a:xfrm>
          <a:prstGeom prst="rect">
            <a:avLst/>
          </a:prstGeom>
          <a:solidFill>
            <a:srgbClr val="F7FAFD"/>
          </a:solidFill>
          <a:ln w="9525">
            <a:solidFill>
              <a:srgbClr val="D8E3EF"/>
            </a:solidFill>
          </a:ln>
        </p:spPr>
      </p:sp>
      <p:sp>
        <p:nvSpPr>
          <p:cNvPr id="186" name="矩形 185"/>
          <p:cNvSpPr>
            <a:spLocks noGrp="1"/>
          </p:cNvSpPr>
          <p:nvPr/>
        </p:nvSpPr>
        <p:spPr>
          <a:xfrm>
            <a:off x="5724525" y="4114800"/>
            <a:ext cx="6324600" cy="43815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表列、值域、连接路径和样例验证不足，可通过更充分探索缓解</a:t>
            </a: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742950" y="4572000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88" name="矩形 187"/>
          <p:cNvSpPr>
            <a:spLocks noGrp="1"/>
          </p:cNvSpPr>
          <p:nvPr/>
        </p:nvSpPr>
        <p:spPr>
          <a:xfrm>
            <a:off x="819150" y="4591050"/>
            <a:ext cx="299085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数据集隐含先验 / 问题欠定</a:t>
            </a:r>
          </a:p>
        </p:txBody>
      </p:sp>
      <p:sp>
        <p:nvSpPr>
          <p:cNvPr id="189" name="矩形 188"/>
          <p:cNvSpPr>
            <a:spLocks noGrp="1"/>
          </p:cNvSpPr>
          <p:nvPr/>
        </p:nvSpPr>
        <p:spPr>
          <a:xfrm>
            <a:off x="3886200" y="4572000"/>
            <a:ext cx="857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90" name="矩形 189"/>
          <p:cNvSpPr>
            <a:spLocks noGrp="1"/>
          </p:cNvSpPr>
          <p:nvPr/>
        </p:nvSpPr>
        <p:spPr>
          <a:xfrm>
            <a:off x="3962400" y="4591050"/>
            <a:ext cx="70485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222</a:t>
            </a:r>
          </a:p>
        </p:txBody>
      </p:sp>
      <p:sp>
        <p:nvSpPr>
          <p:cNvPr id="191" name="矩形 190"/>
          <p:cNvSpPr>
            <a:spLocks noGrp="1"/>
          </p:cNvSpPr>
          <p:nvPr/>
        </p:nvSpPr>
        <p:spPr>
          <a:xfrm>
            <a:off x="4743450" y="4572000"/>
            <a:ext cx="90487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92" name="矩形 191"/>
          <p:cNvSpPr>
            <a:spLocks noGrp="1"/>
          </p:cNvSpPr>
          <p:nvPr/>
        </p:nvSpPr>
        <p:spPr>
          <a:xfrm>
            <a:off x="4819650" y="4591050"/>
            <a:ext cx="752475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36.2%</a:t>
            </a:r>
          </a:p>
        </p:txBody>
      </p:sp>
      <p:sp>
        <p:nvSpPr>
          <p:cNvPr id="193" name="矩形 192"/>
          <p:cNvSpPr>
            <a:spLocks noGrp="1"/>
          </p:cNvSpPr>
          <p:nvPr/>
        </p:nvSpPr>
        <p:spPr>
          <a:xfrm>
            <a:off x="5648325" y="4572000"/>
            <a:ext cx="6477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F"/>
            </a:solidFill>
          </a:ln>
        </p:spPr>
      </p:sp>
      <p:sp>
        <p:nvSpPr>
          <p:cNvPr id="194" name="矩形 193"/>
          <p:cNvSpPr>
            <a:spLocks noGrp="1"/>
          </p:cNvSpPr>
          <p:nvPr/>
        </p:nvSpPr>
        <p:spPr>
          <a:xfrm>
            <a:off x="5724525" y="4591050"/>
            <a:ext cx="63246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查询不够清晰</a:t>
            </a:r>
            <a:r>
              <a:rPr>
                <a:sym typeface="+mn-ea"/>
              </a:rPr>
              <a:t>、</a:t>
            </a:r>
            <a:r>
              <a:t>题面未显式给出标注口径，需要业务先验或交互澄清</a:t>
            </a:r>
          </a:p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876300" y="5219700"/>
            <a:ext cx="5143500" cy="895350"/>
          </a:xfrm>
          <a:prstGeom prst="rect">
            <a:avLst/>
          </a:prstGeom>
          <a:solidFill>
            <a:srgbClr val="F6F9FD"/>
          </a:solidFill>
          <a:ln w="9525">
            <a:solidFill>
              <a:srgbClr val="E88915"/>
            </a:solidFill>
          </a:ln>
        </p:spPr>
      </p:sp>
      <p:sp>
        <p:nvSpPr>
          <p:cNvPr id="196" name="矩形 195"/>
          <p:cNvSpPr>
            <a:spLocks noGrp="1"/>
          </p:cNvSpPr>
          <p:nvPr/>
        </p:nvSpPr>
        <p:spPr>
          <a:xfrm>
            <a:off x="876300" y="5219700"/>
            <a:ext cx="5143500" cy="47625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197" name="矩形 196"/>
          <p:cNvSpPr>
            <a:spLocks noGrp="1"/>
          </p:cNvSpPr>
          <p:nvPr/>
        </p:nvSpPr>
        <p:spPr>
          <a:xfrm>
            <a:off x="1028700" y="5391150"/>
            <a:ext cx="483870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归因结论</a:t>
            </a: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1028700" y="5657850"/>
            <a:ext cx="4838700" cy="381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只有约四分之一错误属于</a:t>
            </a:r>
            <a:r>
              <a:rPr lang="zh-CN"/>
              <a:t>通过更深入</a:t>
            </a:r>
            <a:r>
              <a:t>数据库</a:t>
            </a:r>
            <a:r>
              <a:rPr lang="zh-CN"/>
              <a:t>的</a:t>
            </a:r>
            <a:r>
              <a:t>探索</a:t>
            </a:r>
            <a:r>
              <a:rPr lang="zh-CN"/>
              <a:t>能找到唯一修复方案的</a:t>
            </a:r>
            <a:r>
              <a:t>问题；更多错误来自输出契约、gold SQL 偏好和自然语言口径</a:t>
            </a:r>
            <a:r>
              <a:rPr lang="zh-CN"/>
              <a:t>模糊</a:t>
            </a:r>
            <a:r>
              <a:t>。</a:t>
            </a:r>
          </a:p>
        </p:txBody>
      </p:sp>
      <p:sp>
        <p:nvSpPr>
          <p:cNvPr id="199" name="矩形 198"/>
          <p:cNvSpPr>
            <a:spLocks noGrp="1"/>
          </p:cNvSpPr>
          <p:nvPr/>
        </p:nvSpPr>
        <p:spPr>
          <a:xfrm>
            <a:off x="6457950" y="5219700"/>
            <a:ext cx="4762500" cy="895350"/>
          </a:xfrm>
          <a:prstGeom prst="rect">
            <a:avLst/>
          </a:prstGeom>
          <a:solidFill>
            <a:srgbClr val="F6F9FD"/>
          </a:solidFill>
          <a:ln w="9525">
            <a:solidFill>
              <a:srgbClr val="2E74B5"/>
            </a:solidFill>
          </a:ln>
        </p:spPr>
      </p:sp>
      <p:sp>
        <p:nvSpPr>
          <p:cNvPr id="200" name="矩形 199"/>
          <p:cNvSpPr>
            <a:spLocks noGrp="1"/>
          </p:cNvSpPr>
          <p:nvPr/>
        </p:nvSpPr>
        <p:spPr>
          <a:xfrm>
            <a:off x="6457950" y="5219700"/>
            <a:ext cx="4762500" cy="47625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201" name="矩形 200"/>
          <p:cNvSpPr>
            <a:spLocks noGrp="1"/>
          </p:cNvSpPr>
          <p:nvPr/>
        </p:nvSpPr>
        <p:spPr>
          <a:xfrm>
            <a:off x="6610350" y="5391150"/>
            <a:ext cx="4457700" cy="2667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 Pontis 的启示</a:t>
            </a:r>
          </a:p>
        </p:txBody>
      </p:sp>
      <p:sp>
        <p:nvSpPr>
          <p:cNvPr id="202" name="矩形 201"/>
          <p:cNvSpPr>
            <a:spLocks noGrp="1"/>
          </p:cNvSpPr>
          <p:nvPr/>
        </p:nvSpPr>
        <p:spPr>
          <a:xfrm>
            <a:off x="6610350" y="5657850"/>
            <a:ext cx="4457700" cy="381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anchor="t"/>
          <a:lstStyle/>
          <a:p>
            <a:pPr algn="l">
              <a:defRPr sz="10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数据智能体需要可查询上下文、执行验证、消歧经验记录和长期语义维护，不能只围绕单个 EX 分数优化。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502920" y="173736"/>
            <a:ext cx="5669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02920" y="155448"/>
            <a:ext cx="566928" cy="34747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88720" y="118872"/>
            <a:ext cx="6858000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E889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结论与展望</a:t>
            </a:r>
            <a:endParaRPr sz="1800" b="1" i="0">
              <a:solidFill>
                <a:srgbClr val="E889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8303"/>
            <a:ext cx="1783080" cy="521760"/>
          </a:xfrm>
          <a:prstGeom prst="rect">
            <a:avLst/>
          </a:prstGeom>
        </p:spPr>
      </p:pic>
      <p:sp>
        <p:nvSpPr>
          <p:cNvPr id="28" name="Rectangle 27"/>
          <p:cNvSpPr>
            <a:spLocks noGrp="1"/>
          </p:cNvSpPr>
          <p:nvPr/>
        </p:nvSpPr>
        <p:spPr>
          <a:xfrm>
            <a:off x="566928" y="6437376"/>
            <a:ext cx="11064240" cy="10972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875520" y="6455664"/>
            <a:ext cx="1755648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66928" y="6455664"/>
            <a:ext cx="640080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57950"/>
            <a:ext cx="6191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C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基于语义层的 Text-to-SQL 数据智能体系统设计与实现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6457950"/>
            <a:ext cx="1619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 / 18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895350"/>
            <a:ext cx="990600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本文贡献总结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1428750"/>
            <a:ext cx="2000250" cy="3810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6" name="圆角矩形 3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71500" y="1857375"/>
            <a:ext cx="5334000" cy="1428750"/>
          </a:xfrm>
          <a:prstGeom prst="roundRect">
            <a:avLst>
              <a:gd name="adj" fmla="val 5333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37" name="矩形 3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71500" y="1857375"/>
            <a:ext cx="5334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38" name="矩形 3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81050" y="2028825"/>
            <a:ext cx="4914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语义层架构</a:t>
            </a:r>
          </a:p>
        </p:txBody>
      </p:sp>
      <p:sp>
        <p:nvSpPr>
          <p:cNvPr id="39" name="矩形 3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0100" y="2447925"/>
            <a:ext cx="4876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在原始数据与 LLM 查询智能体之间维护语义层，用 Neo4j 属性图统一组织表列、统计、关系、摘要和经验记录。</a:t>
            </a:r>
          </a:p>
        </p:txBody>
      </p:sp>
      <p:sp>
        <p:nvSpPr>
          <p:cNvPr id="40" name="圆角矩形 3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286500" y="1857375"/>
            <a:ext cx="5334000" cy="1428750"/>
          </a:xfrm>
          <a:prstGeom prst="roundRect">
            <a:avLst>
              <a:gd name="adj" fmla="val 5333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1" name="矩形 4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86500" y="1857375"/>
            <a:ext cx="533400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96050" y="2028825"/>
            <a:ext cx="4914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Pontis</a:t>
            </a:r>
            <a:r>
              <a:rPr lang="en-US"/>
              <a:t> </a:t>
            </a:r>
            <a:r>
              <a:rPr lang="zh-CN" altLang="en-US"/>
              <a:t>流水线</a:t>
            </a:r>
            <a:r>
              <a:t> </a:t>
            </a:r>
            <a:endParaRPr lang="zh-CN"/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15100" y="2447925"/>
            <a:ext cx="4876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支持自动化提取、探索智能体、语义向量索引和查询智能体；在线阶段提供 find、meta、query 等</a:t>
            </a:r>
            <a:r>
              <a:rPr lang="zh-CN"/>
              <a:t>知识图谱探索</a:t>
            </a:r>
            <a:r>
              <a:t>工具。</a:t>
            </a:r>
          </a:p>
        </p:txBody>
      </p:sp>
      <p:sp>
        <p:nvSpPr>
          <p:cNvPr id="44" name="圆角矩形 4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71500" y="3714750"/>
            <a:ext cx="5334000" cy="1428750"/>
          </a:xfrm>
          <a:prstGeom prst="roundRect">
            <a:avLst>
              <a:gd name="adj" fmla="val 5333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5" name="矩形 4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71500" y="3714750"/>
            <a:ext cx="5334000" cy="57150"/>
          </a:xfrm>
          <a:prstGeom prst="rect">
            <a:avLst/>
          </a:prstGeom>
          <a:solidFill>
            <a:srgbClr val="2E74B5"/>
          </a:solidFill>
          <a:ln>
            <a:noFill/>
          </a:ln>
        </p:spPr>
      </p:sp>
      <p:sp>
        <p:nvSpPr>
          <p:cNvPr id="46" name="矩形 4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81050" y="3886200"/>
            <a:ext cx="4914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统一实验与成本分析</a:t>
            </a:r>
          </a:p>
        </p:txBody>
      </p:sp>
      <p:sp>
        <p:nvSpPr>
          <p:cNvPr id="47" name="矩形 4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00100" y="4305300"/>
            <a:ext cx="4876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BIRD dev 1534 道题上取得 65.38% </a:t>
            </a:r>
            <a:r>
              <a:rPr lang="zh-CN"/>
              <a:t>执行准确率</a:t>
            </a:r>
            <a:r>
              <a:t>，并分析 cached、uncached、output token 和预处理摊销成本。</a:t>
            </a:r>
          </a:p>
        </p:txBody>
      </p:sp>
      <p:sp>
        <p:nvSpPr>
          <p:cNvPr id="48" name="圆角矩形 4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286500" y="3714750"/>
            <a:ext cx="5334000" cy="1428750"/>
          </a:xfrm>
          <a:prstGeom prst="roundRect">
            <a:avLst>
              <a:gd name="adj" fmla="val 5333"/>
            </a:avLst>
          </a:prstGeom>
          <a:solidFill>
            <a:srgbClr val="F6F9FD"/>
          </a:solidFill>
          <a:ln w="9525">
            <a:solidFill>
              <a:srgbClr val="D4E0ED"/>
            </a:solidFill>
          </a:ln>
        </p:spPr>
      </p:sp>
      <p:sp>
        <p:nvSpPr>
          <p:cNvPr id="49" name="矩形 4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286500" y="3714750"/>
            <a:ext cx="5334000" cy="57150"/>
          </a:xfrm>
          <a:prstGeom prst="rect">
            <a:avLst/>
          </a:prstGeom>
          <a:solidFill>
            <a:srgbClr val="E88915"/>
          </a:solidFill>
          <a:ln>
            <a:noFill/>
          </a:ln>
        </p:spPr>
      </p:sp>
      <p:sp>
        <p:nvSpPr>
          <p:cNvPr id="50" name="矩形 4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496050" y="3886200"/>
            <a:ext cx="49149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/>
              <a:t>benchmark </a:t>
            </a:r>
            <a:r>
              <a:rPr lang="zh-CN" altLang="en-US"/>
              <a:t>局限性分析</a:t>
            </a:r>
            <a:endParaRPr lang="zh-CN" altLang="en-US"/>
          </a:p>
        </p:txBody>
      </p:sp>
      <p:sp>
        <p:nvSpPr>
          <p:cNvPr id="51" name="矩形 5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515100" y="4305300"/>
            <a:ext cx="4876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指出 SQL 多重可达性、query 语义欠定性和标注口径偏好会影响 EX 解释。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286125" y="5667375"/>
            <a:ext cx="561975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代码：https://github.com/rhicore/Pontis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5095875"/>
            <a:ext cx="9715500" cy="51435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数据智能体的</a:t>
            </a:r>
            <a:r>
              <a:t>关键不只是生成一条 SQL，而是维护能被检索、验证、更新和复用的数据库语义工作空间。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0" y="6473952"/>
            <a:ext cx="12191695" cy="54864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1407" y="1234440"/>
            <a:ext cx="2468880" cy="722437"/>
          </a:xfrm>
          <a:prstGeom prst="rect">
            <a:avLst/>
          </a:prstGeom>
        </p:spPr>
      </p:pic>
      <p:sp>
        <p:nvSpPr>
          <p:cNvPr id="7" name="TextBox 6"/>
          <p:cNvSpPr>
            <a:spLocks noGrp="1"/>
          </p:cNvSpPr>
          <p:nvPr/>
        </p:nvSpPr>
        <p:spPr>
          <a:xfrm>
            <a:off x="914400" y="2697480"/>
            <a:ext cx="10360152" cy="14630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58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谢谢各位老师</a:t>
            </a:r>
            <a:endParaRPr sz="58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449927" y="4526280"/>
            <a:ext cx="32918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914400" y="4800600"/>
            <a:ext cx="10360152" cy="8229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敬请批评指正</a:t>
            </a:r>
            <a:endParaRPr sz="180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2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3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4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5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6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7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8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9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10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11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12.xml><?xml version="1.0" encoding="utf-8"?>
<p:tagLst xmlns:p="http://schemas.openxmlformats.org/presentationml/2006/main">
  <p:tag name="KSO_WM_DIAGRAM_VIRTUALLY_FRAME" val="{&quot;height&quot;:172.5,&quot;left&quot;:45,&quot;top&quot;:153.75,&quot;width&quot;:870}"/>
</p:tagLst>
</file>

<file path=ppt/tags/tag13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14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15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16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17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18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19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20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21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22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23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24.xml><?xml version="1.0" encoding="utf-8"?>
<p:tagLst xmlns:p="http://schemas.openxmlformats.org/presentationml/2006/main">
  <p:tag name="KSO_WM_DIAGRAM_VIRTUALLY_FRAME" val="{&quot;height&quot;:180,&quot;left&quot;:52.5,&quot;top&quot;:157.5,&quot;width&quot;:855}"/>
</p:tagLst>
</file>

<file path=ppt/tags/tag25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26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27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28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29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0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1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2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3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4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5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6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7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8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39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ags/tag40.xml><?xml version="1.0" encoding="utf-8"?>
<p:tagLst xmlns:p="http://schemas.openxmlformats.org/presentationml/2006/main">
  <p:tag name="KSO_WM_DIAGRAM_VIRTUALLY_FRAME" val="{&quot;height&quot;:258.75,&quot;left&quot;:45,&quot;top&quot;:146.25,&quot;width&quot;:870}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5423</Words>
  <Application>WPS 演示</Application>
  <PresentationFormat>Converted Presentation</PresentationFormat>
  <Paragraphs>602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Cascadia Mono</vt:lpstr>
      <vt:lpstr>Calibri</vt:lpstr>
      <vt:lpstr>Arial Unicode MS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陈必纯</cp:lastModifiedBy>
  <cp:revision>19</cp:revision>
  <dcterms:created xsi:type="dcterms:W3CDTF">2026-06-07T17:50:00Z</dcterms:created>
  <dcterms:modified xsi:type="dcterms:W3CDTF">2026-06-08T02:27:17Z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80463C3374414F8C9918508D422719CD_12</vt:lpwstr>
  </property>
  <property fmtid="{D5CDD505-2E9C-101B-9397-08002B2CF9AE}" pid="3" name="KSOProductBuildVer">
    <vt:lpwstr>2052-12.1.0.23542</vt:lpwstr>
  </property>
</Properties>
</file>