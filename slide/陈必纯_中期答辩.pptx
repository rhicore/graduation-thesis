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841" r:id="rId5"/>
    <p:sldId id="2839" r:id="rId6"/>
    <p:sldId id="2840" r:id="rId7"/>
    <p:sldId id="2842" r:id="rId8"/>
    <p:sldId id="2843" r:id="rId9"/>
    <p:sldId id="282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77CC"/>
    <a:srgbClr val="F7F8FC"/>
    <a:srgbClr val="A4C7FD"/>
    <a:srgbClr val="46B7F4"/>
    <a:srgbClr val="4272BB"/>
    <a:srgbClr val="2B2B2B"/>
    <a:srgbClr val="478ED6"/>
    <a:srgbClr val="489AE0"/>
    <a:srgbClr val="3D5CA6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2FE30-D1CB-4640-A759-810F003609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4435C-6EC0-481B-A838-74E1A0E375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F8842C-CD7E-4B02-818D-3B3BCD1E6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F8842C-CD7E-4B02-818D-3B3BCD1E6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835400" y="0"/>
            <a:ext cx="4521200" cy="182880"/>
          </a:xfrm>
          <a:prstGeom prst="rect">
            <a:avLst/>
          </a:prstGeom>
          <a:solidFill>
            <a:srgbClr val="2B77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80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1"/>
            <a:ext cx="12192000" cy="5079999"/>
          </a:xfrm>
          <a:prstGeom prst="rect">
            <a:avLst/>
          </a:prstGeom>
          <a:blipFill dpi="0" rotWithShape="1">
            <a:blip r:embed="rId3">
              <a:alphaModFix amt="9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5430000" y="4370791"/>
            <a:ext cx="1332000" cy="13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224332" y="1223410"/>
            <a:ext cx="5743334" cy="678288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10334" y="1387787"/>
            <a:ext cx="5371331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毕业设计中期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报告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51180" y="2066290"/>
            <a:ext cx="1103185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zh-CN" altLang="en-US" sz="3200" b="1" i="0" u="none" strike="noStrike" kern="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</a:t>
            </a:r>
            <a:r>
              <a:rPr kumimoji="0" lang="zh-CN" altLang="en-US" sz="3200" b="1" i="0" u="none" strike="noStrike" kern="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图谱语义导航的</a:t>
            </a:r>
            <a:r>
              <a:rPr kumimoji="0" lang="en-US" altLang="zh-CN" sz="3200" b="1" i="0" u="none" strike="noStrike" kern="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Agentic Text-to-SQL </a:t>
            </a:r>
            <a:r>
              <a:rPr kumimoji="0" lang="zh-CN" altLang="en-US" sz="3200" b="1" i="0" u="none" strike="noStrike" kern="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系统设计</a:t>
            </a:r>
            <a:endParaRPr kumimoji="0" lang="zh-CN" altLang="en-US" sz="3200" b="1" i="0" u="none" strike="noStrike" kern="0" cap="none" spc="2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869815" y="5791200"/>
            <a:ext cx="24523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3A8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自动化钱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33A8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2201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3A8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陈必纯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33A8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538000" y="4484265"/>
            <a:ext cx="1116000" cy="1116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729"/>
          <a:stretch>
            <a:fillRect/>
          </a:stretch>
        </p:blipFill>
        <p:spPr>
          <a:xfrm>
            <a:off x="5689646" y="4634082"/>
            <a:ext cx="812708" cy="79807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039360" y="6247765"/>
            <a:ext cx="211264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33A8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指导教师：王平辉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33A8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1468755" y="5666740"/>
            <a:ext cx="954849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zh-CN" altLang="en-US" sz="1400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最大的难点不是</a:t>
            </a:r>
            <a:r>
              <a:rPr lang="en-US" altLang="zh-CN" sz="1400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400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的语法生成，而是让</a:t>
            </a:r>
            <a:r>
              <a:rPr lang="en-US" altLang="zh-CN" sz="1400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400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正确理解私有数据库的结构，以应对灵活多变的在线查询</a:t>
            </a:r>
            <a:endParaRPr lang="zh-CN" altLang="en-US" sz="1400" kern="0" spc="225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b="1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需要构建一个为大模型设计的语义知识层。</a:t>
            </a:r>
            <a:endParaRPr lang="zh-CN" altLang="en-US" sz="1400" b="1" kern="0" spc="225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/>
          <p:cNvGrpSpPr/>
          <p:nvPr>
            <p:custDataLst>
              <p:tags r:id="rId1"/>
            </p:custDataLst>
          </p:nvPr>
        </p:nvGrpSpPr>
        <p:grpSpPr>
          <a:xfrm>
            <a:off x="792463" y="1729095"/>
            <a:ext cx="3383479" cy="3543300"/>
            <a:chOff x="792463" y="2651750"/>
            <a:chExt cx="3383479" cy="3543300"/>
          </a:xfrm>
        </p:grpSpPr>
        <p:sp>
          <p:nvSpPr>
            <p:cNvPr id="67" name="单圆角矩形 4"/>
            <p:cNvSpPr/>
            <p:nvPr>
              <p:custDataLst>
                <p:tags r:id="rId2"/>
              </p:custDataLst>
            </p:nvPr>
          </p:nvSpPr>
          <p:spPr>
            <a:xfrm>
              <a:off x="1111168" y="2651750"/>
              <a:ext cx="2746069" cy="35433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792463" y="2963716"/>
              <a:ext cx="3383479" cy="1131071"/>
              <a:chOff x="956833" y="2757488"/>
              <a:chExt cx="3383479" cy="902463"/>
            </a:xfrm>
          </p:grpSpPr>
          <p:sp>
            <p:nvSpPr>
              <p:cNvPr id="69" name="直角三角形 68"/>
              <p:cNvSpPr>
                <a:spLocks noChangeAspect="1"/>
              </p:cNvSpPr>
              <p:nvPr>
                <p:custDataLst>
                  <p:tags r:id="rId3"/>
                </p:custDataLst>
              </p:nvPr>
            </p:nvSpPr>
            <p:spPr>
              <a:xfrm rot="10800000">
                <a:off x="956833" y="3199151"/>
                <a:ext cx="315941" cy="459698"/>
              </a:xfrm>
              <a:prstGeom prst="rt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直角三角形 69"/>
              <p:cNvSpPr>
                <a:spLocks noChangeAspect="1"/>
              </p:cNvSpPr>
              <p:nvPr>
                <p:custDataLst>
                  <p:tags r:id="rId4"/>
                </p:custDataLst>
              </p:nvPr>
            </p:nvSpPr>
            <p:spPr>
              <a:xfrm rot="5400000">
                <a:off x="3951512" y="3271151"/>
                <a:ext cx="460800" cy="316800"/>
              </a:xfrm>
              <a:prstGeom prst="rt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矩形 70"/>
              <p:cNvSpPr/>
              <p:nvPr>
                <p:custDataLst>
                  <p:tags r:id="rId5"/>
                </p:custDataLst>
              </p:nvPr>
            </p:nvSpPr>
            <p:spPr>
              <a:xfrm>
                <a:off x="956833" y="2757488"/>
                <a:ext cx="3383479" cy="441663"/>
              </a:xfrm>
              <a:prstGeom prst="rect">
                <a:avLst/>
              </a:prstGeom>
              <a:gradFill>
                <a:gsLst>
                  <a:gs pos="0">
                    <a:srgbClr val="0070C0"/>
                  </a:gs>
                  <a:gs pos="100000">
                    <a:srgbClr val="002060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文本框 8"/>
            <p:cNvSpPr txBox="1"/>
            <p:nvPr>
              <p:custDataLst>
                <p:tags r:id="rId6"/>
              </p:custDataLst>
            </p:nvPr>
          </p:nvSpPr>
          <p:spPr>
            <a:xfrm>
              <a:off x="1109328" y="2945755"/>
              <a:ext cx="26612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数据复杂性</a:t>
              </a:r>
              <a:endPara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/>
            <p:cNvSpPr/>
            <p:nvPr>
              <p:custDataLst>
                <p:tags r:id="rId7"/>
              </p:custDataLst>
            </p:nvPr>
          </p:nvSpPr>
          <p:spPr>
            <a:xfrm>
              <a:off x="1163303" y="3957945"/>
              <a:ext cx="2607310" cy="17532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真实商业数据库动辄包含数以千计的表与海量列，存在大量显式外键与潜在的</a:t>
              </a:r>
              <a:r>
                <a:rPr lang="en-US" altLang="zh-CN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Join </a:t>
              </a: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关联。</a:t>
              </a:r>
              <a:endParaRPr lang="zh-CN" altLang="en-US" sz="1200" b="1" kern="0" spc="22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表名与列名常缺乏解释性（如业务缩写、加密命名），相同维度的实体散落于宽表之中。</a:t>
              </a:r>
              <a:endParaRPr lang="zh-CN" altLang="en-US" sz="1200" b="1" kern="0" spc="22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8"/>
            </p:custDataLst>
          </p:nvPr>
        </p:nvGrpSpPr>
        <p:grpSpPr>
          <a:xfrm>
            <a:off x="4521124" y="1729095"/>
            <a:ext cx="3383479" cy="3543300"/>
            <a:chOff x="4521124" y="2651750"/>
            <a:chExt cx="3383479" cy="3543300"/>
          </a:xfrm>
        </p:grpSpPr>
        <p:sp>
          <p:nvSpPr>
            <p:cNvPr id="75" name="单圆角矩形 4"/>
            <p:cNvSpPr/>
            <p:nvPr>
              <p:custDataLst>
                <p:tags r:id="rId9"/>
              </p:custDataLst>
            </p:nvPr>
          </p:nvSpPr>
          <p:spPr>
            <a:xfrm>
              <a:off x="4839829" y="2651750"/>
              <a:ext cx="2746069" cy="35433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4521124" y="2963716"/>
              <a:ext cx="3383479" cy="1131071"/>
              <a:chOff x="956833" y="2757488"/>
              <a:chExt cx="3383479" cy="902463"/>
            </a:xfrm>
          </p:grpSpPr>
          <p:sp>
            <p:nvSpPr>
              <p:cNvPr id="82" name="直角三角形 81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>
              <a:xfrm rot="10800000">
                <a:off x="956833" y="3199151"/>
                <a:ext cx="315941" cy="459698"/>
              </a:xfrm>
              <a:prstGeom prst="rt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直角三角形 82"/>
              <p:cNvSpPr>
                <a:spLocks noChangeAspect="1"/>
              </p:cNvSpPr>
              <p:nvPr>
                <p:custDataLst>
                  <p:tags r:id="rId11"/>
                </p:custDataLst>
              </p:nvPr>
            </p:nvSpPr>
            <p:spPr>
              <a:xfrm rot="5400000">
                <a:off x="3951512" y="3271151"/>
                <a:ext cx="460800" cy="316800"/>
              </a:xfrm>
              <a:prstGeom prst="rt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矩形 83"/>
              <p:cNvSpPr/>
              <p:nvPr>
                <p:custDataLst>
                  <p:tags r:id="rId12"/>
                </p:custDataLst>
              </p:nvPr>
            </p:nvSpPr>
            <p:spPr>
              <a:xfrm>
                <a:off x="956833" y="2757488"/>
                <a:ext cx="3383479" cy="441663"/>
              </a:xfrm>
              <a:prstGeom prst="rect">
                <a:avLst/>
              </a:prstGeom>
              <a:gradFill>
                <a:gsLst>
                  <a:gs pos="0">
                    <a:srgbClr val="0070C0"/>
                  </a:gs>
                  <a:gs pos="100000">
                    <a:srgbClr val="002060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8" name="文本框 8"/>
            <p:cNvSpPr txBox="1"/>
            <p:nvPr>
              <p:custDataLst>
                <p:tags r:id="rId13"/>
              </p:custDataLst>
            </p:nvPr>
          </p:nvSpPr>
          <p:spPr>
            <a:xfrm>
              <a:off x="4959909" y="2945755"/>
              <a:ext cx="248539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LLM </a:t>
              </a:r>
              <a:r>
                <a:rPr kumimoji="1"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认知瓶颈</a:t>
              </a:r>
              <a:endPara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矩形 80"/>
            <p:cNvSpPr/>
            <p:nvPr>
              <p:custDataLst>
                <p:tags r:id="rId14"/>
              </p:custDataLst>
            </p:nvPr>
          </p:nvSpPr>
          <p:spPr>
            <a:xfrm>
              <a:off x="5329271" y="3958139"/>
              <a:ext cx="1767185" cy="1198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将物理库模式全量输入会导致</a:t>
              </a:r>
              <a:r>
                <a:rPr lang="en-US" altLang="zh-CN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LLM </a:t>
              </a: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注意力涣散与上下文溢出。</a:t>
              </a:r>
              <a:endParaRPr lang="zh-CN" altLang="en-US" sz="1200" b="1" kern="0" spc="22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9" name="组合 98"/>
          <p:cNvGrpSpPr/>
          <p:nvPr>
            <p:custDataLst>
              <p:tags r:id="rId15"/>
            </p:custDataLst>
          </p:nvPr>
        </p:nvGrpSpPr>
        <p:grpSpPr>
          <a:xfrm>
            <a:off x="8249785" y="1729095"/>
            <a:ext cx="3383479" cy="3543300"/>
            <a:chOff x="8249785" y="2651750"/>
            <a:chExt cx="3383479" cy="3543300"/>
          </a:xfrm>
        </p:grpSpPr>
        <p:sp>
          <p:nvSpPr>
            <p:cNvPr id="86" name="单圆角矩形 4"/>
            <p:cNvSpPr/>
            <p:nvPr>
              <p:custDataLst>
                <p:tags r:id="rId16"/>
              </p:custDataLst>
            </p:nvPr>
          </p:nvSpPr>
          <p:spPr>
            <a:xfrm>
              <a:off x="8568490" y="2651750"/>
              <a:ext cx="2746069" cy="35433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8249785" y="2963716"/>
              <a:ext cx="3383479" cy="1131071"/>
              <a:chOff x="956833" y="2757488"/>
              <a:chExt cx="3383479" cy="902463"/>
            </a:xfrm>
          </p:grpSpPr>
          <p:sp>
            <p:nvSpPr>
              <p:cNvPr id="93" name="直角三角形 92"/>
              <p:cNvSpPr>
                <a:spLocks noChangeAspect="1"/>
              </p:cNvSpPr>
              <p:nvPr>
                <p:custDataLst>
                  <p:tags r:id="rId17"/>
                </p:custDataLst>
              </p:nvPr>
            </p:nvSpPr>
            <p:spPr>
              <a:xfrm rot="10800000">
                <a:off x="956833" y="3199151"/>
                <a:ext cx="315941" cy="459698"/>
              </a:xfrm>
              <a:prstGeom prst="rt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直角三角形 93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>
              <a:xfrm rot="5400000">
                <a:off x="3951512" y="3271151"/>
                <a:ext cx="460800" cy="316800"/>
              </a:xfrm>
              <a:prstGeom prst="rt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矩形 94"/>
              <p:cNvSpPr/>
              <p:nvPr>
                <p:custDataLst>
                  <p:tags r:id="rId19"/>
                </p:custDataLst>
              </p:nvPr>
            </p:nvSpPr>
            <p:spPr>
              <a:xfrm>
                <a:off x="956833" y="2757488"/>
                <a:ext cx="3383479" cy="441663"/>
              </a:xfrm>
              <a:prstGeom prst="rect">
                <a:avLst/>
              </a:prstGeom>
              <a:gradFill>
                <a:gsLst>
                  <a:gs pos="0">
                    <a:srgbClr val="0070C0"/>
                  </a:gs>
                  <a:gs pos="100000">
                    <a:srgbClr val="002060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9" name="文本框 8"/>
            <p:cNvSpPr txBox="1"/>
            <p:nvPr>
              <p:custDataLst>
                <p:tags r:id="rId20"/>
              </p:custDataLst>
            </p:nvPr>
          </p:nvSpPr>
          <p:spPr>
            <a:xfrm>
              <a:off x="8807950" y="2945755"/>
              <a:ext cx="232029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人工标注</a:t>
              </a:r>
              <a:r>
                <a:rPr kumimoji="1"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困难</a:t>
              </a:r>
              <a:endPara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矩形 91"/>
            <p:cNvSpPr/>
            <p:nvPr>
              <p:custDataLst>
                <p:tags r:id="rId21"/>
              </p:custDataLst>
            </p:nvPr>
          </p:nvSpPr>
          <p:spPr>
            <a:xfrm>
              <a:off x="9011577" y="3958139"/>
              <a:ext cx="1767185" cy="17532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en-US" altLang="zh-CN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LLM </a:t>
              </a: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无法</a:t>
              </a:r>
              <a:r>
                <a:rPr lang="en-US" altLang="zh-CN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凭空</a:t>
              </a:r>
              <a:r>
                <a:rPr lang="en-US" altLang="zh-CN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精准理解私有数据库的复杂网络结构。</a:t>
              </a:r>
              <a:r>
                <a:rPr lang="zh-CN" altLang="en-US" sz="1200" b="1" kern="0" spc="22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但依赖人力构建人工标注层成本极高且难以维护。</a:t>
              </a:r>
              <a:endParaRPr lang="zh-CN" altLang="en-US" sz="1200" b="1" kern="0" spc="225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1734820" y="412750"/>
            <a:ext cx="8644255" cy="1753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en-US" altLang="zh-CN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Text to SQL </a:t>
            </a:r>
            <a:r>
              <a:rPr lang="zh-CN" altLang="en-US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的难点</a:t>
            </a:r>
            <a:endParaRPr lang="en-US" altLang="zh-CN" sz="3600" b="1" kern="0" spc="225" dirty="0">
              <a:solidFill>
                <a:srgbClr val="2E6FC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ctr">
              <a:lnSpc>
                <a:spcPct val="150000"/>
              </a:lnSpc>
              <a:defRPr/>
            </a:pPr>
            <a:endParaRPr lang="zh-CN" altLang="en-US" sz="3600" b="1" kern="0" spc="225" dirty="0">
              <a:solidFill>
                <a:srgbClr val="2E6FC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81325" y="1226185"/>
            <a:ext cx="61512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kern="0" spc="225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  <a:sym typeface="+mn-ea"/>
              </a:rPr>
              <a:t>Text to SQL</a:t>
            </a:r>
            <a:r>
              <a:rPr lang="zh-CN" altLang="en-US" sz="1400" b="1" kern="0" spc="225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  <a:sym typeface="+mn-ea"/>
              </a:rPr>
              <a:t>：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将人类的自然语言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问题转化为数据库</a:t>
            </a:r>
            <a:r>
              <a:rPr lang="zh-CN" altLang="en-US" sz="14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下的结构化查询语言。</a:t>
            </a:r>
            <a:endParaRPr lang="zh-CN" altLang="en-US" sz="1400">
              <a:solidFill>
                <a:schemeClr val="tx1">
                  <a:lumMod val="50000"/>
                  <a:lumOff val="50000"/>
                </a:schemeClr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Gemini_Generated_Image_2fp6252fp6252fp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265" y="1861820"/>
            <a:ext cx="6630035" cy="36163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77642" y="1354996"/>
            <a:ext cx="2133781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双层架构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9260" y="4544695"/>
            <a:ext cx="15551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物理数据层</a:t>
            </a:r>
            <a:endParaRPr lang="zh-CN" altLang="en-US" sz="1600" b="1"/>
          </a:p>
        </p:txBody>
      </p:sp>
      <p:sp>
        <p:nvSpPr>
          <p:cNvPr id="8" name="文本框 7"/>
          <p:cNvSpPr txBox="1"/>
          <p:nvPr/>
        </p:nvSpPr>
        <p:spPr>
          <a:xfrm>
            <a:off x="1650365" y="2032635"/>
            <a:ext cx="15551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/>
              <a:t>AI </a:t>
            </a:r>
            <a:r>
              <a:rPr lang="zh-CN" altLang="en-US" sz="1600" b="1"/>
              <a:t>语义层</a:t>
            </a:r>
            <a:endParaRPr lang="zh-CN" altLang="en-US" sz="1600" b="1"/>
          </a:p>
        </p:txBody>
      </p:sp>
      <p:sp>
        <p:nvSpPr>
          <p:cNvPr id="10" name="文本框 9"/>
          <p:cNvSpPr txBox="1"/>
          <p:nvPr/>
        </p:nvSpPr>
        <p:spPr>
          <a:xfrm>
            <a:off x="1929765" y="2507615"/>
            <a:ext cx="1275715" cy="101473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200"/>
              <a:t>专为 </a:t>
            </a:r>
            <a:r>
              <a:rPr lang="en-US" altLang="zh-CN" sz="1200"/>
              <a:t>LLM </a:t>
            </a:r>
            <a:r>
              <a:rPr lang="zh-CN" altLang="en-US" sz="1200"/>
              <a:t>阅读设计的</a:t>
            </a:r>
            <a:r>
              <a:rPr lang="zh-CN" altLang="en-US" sz="1200"/>
              <a:t>视图，屏蔽底层物理细节，降低 </a:t>
            </a:r>
            <a:r>
              <a:rPr lang="en-US" altLang="zh-CN" sz="1200"/>
              <a:t>LLM </a:t>
            </a:r>
            <a:r>
              <a:rPr lang="zh-CN" altLang="en-US" sz="1200"/>
              <a:t>认知负荷。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1301750" y="3067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893060" y="412752"/>
            <a:ext cx="8405879" cy="922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大模型友好的语义层</a:t>
            </a:r>
            <a:endParaRPr lang="zh-CN" altLang="en-US" sz="3600" b="1" kern="0" spc="225" dirty="0">
              <a:solidFill>
                <a:srgbClr val="2E6FC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302635" y="6363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903220" y="5903595"/>
            <a:ext cx="6384925" cy="4603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zh-CN" altLang="en-US" sz="1200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语义层不要求复杂的结构，而是要求尽量统一的访问设计，尽可能降低大模型认知负担，本毕设采用</a:t>
            </a:r>
            <a:r>
              <a:rPr lang="zh-CN" altLang="en-US" sz="1200" b="1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  <a:r>
              <a:rPr lang="zh-CN" altLang="en-US" sz="1200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200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形式来表征整个数据库结构。</a:t>
            </a:r>
            <a:endParaRPr lang="zh-CN" altLang="en-US" sz="1200" kern="0" spc="225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6765" y="4949190"/>
            <a:ext cx="127571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200"/>
              <a:t>不同场景、不同架构环境下</a:t>
            </a:r>
            <a:r>
              <a:rPr lang="zh-CN" altLang="en-US" sz="1200"/>
              <a:t>的物理文件</a:t>
            </a:r>
            <a:endParaRPr lang="zh-CN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893060" y="412752"/>
            <a:ext cx="8405879" cy="922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语义层（</a:t>
            </a:r>
            <a:r>
              <a:rPr lang="zh-CN" altLang="en-US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图谱）包含</a:t>
            </a:r>
            <a:r>
              <a:rPr lang="zh-CN" altLang="en-US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的信息</a:t>
            </a:r>
            <a:endParaRPr lang="zh-CN" altLang="en-US" sz="3600" b="1" kern="0" spc="225" dirty="0">
              <a:solidFill>
                <a:srgbClr val="2E6FC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3205" y="1555750"/>
            <a:ext cx="8371840" cy="40309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实体映射（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图节点）：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屏蔽底层的物理存储细节，将数据库统一抽象为标准的表实体 </a:t>
            </a:r>
            <a:r>
              <a:rPr lang="en-US" altLang="zh-CN" sz="1600"/>
              <a:t>(.table)</a:t>
            </a:r>
            <a:r>
              <a:rPr lang="zh-CN" altLang="en-US" sz="1600"/>
              <a:t>、列实体 </a:t>
            </a:r>
            <a:r>
              <a:rPr lang="en-US" altLang="zh-CN" sz="1600"/>
              <a:t>(.col)</a:t>
            </a:r>
            <a:r>
              <a:rPr lang="zh-CN" altLang="en-US" sz="1600"/>
              <a:t>、视图实体</a:t>
            </a:r>
            <a:r>
              <a:rPr lang="en-US" altLang="zh-CN" sz="1600"/>
              <a:t>(.view)</a:t>
            </a:r>
            <a:r>
              <a:rPr lang="zh-CN" altLang="en-US" sz="1600"/>
              <a:t>等</a:t>
            </a:r>
            <a:r>
              <a:rPr lang="zh-CN" altLang="en-US" sz="1600"/>
              <a:t>图节点，作为大模型交互的基础单元。</a:t>
            </a:r>
            <a:endParaRPr lang="zh-CN" altLang="en-US" sz="1600"/>
          </a:p>
          <a:p>
            <a:pPr lvl="1" indent="0">
              <a:buFont typeface="Arial" panose="020B0604020202020204"/>
              <a:buNone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Font typeface="Arial" panose="020B0604020202020204"/>
              <a:buNone/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统计特征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（节点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信息）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自动提取各列的数据类型、极值、非空率及 </a:t>
            </a:r>
            <a:r>
              <a:rPr lang="en-US" altLang="zh-CN" sz="1600"/>
              <a:t>Top-K </a:t>
            </a:r>
            <a:r>
              <a:rPr lang="zh-CN" altLang="en-US" sz="1600"/>
              <a:t>高频采样值。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赋予模型全局视野，通过数据分布获取列</a:t>
            </a:r>
            <a:r>
              <a:rPr lang="zh-CN" altLang="en-US" sz="1600"/>
              <a:t>信息。</a:t>
            </a:r>
            <a:endParaRPr lang="zh-CN" altLang="en-US" sz="1600"/>
          </a:p>
          <a:p>
            <a:pPr lvl="1">
              <a:buFont typeface="Arial" panose="020B0604020202020204"/>
              <a:buChar char="◦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Font typeface="Arial" panose="020B0604020202020204"/>
              <a:buNone/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关系拓扑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图边）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融合三种边结构：显式外键 </a:t>
            </a:r>
            <a:r>
              <a:rPr lang="en-US" altLang="zh-CN" sz="1600"/>
              <a:t>(.fk)</a:t>
            </a:r>
            <a:r>
              <a:rPr lang="zh-CN" altLang="en-US" sz="1600"/>
              <a:t>、算法挖掘的隐式值重叠 </a:t>
            </a:r>
            <a:r>
              <a:rPr lang="en-US" altLang="zh-CN" sz="1600"/>
              <a:t>(.overlap)</a:t>
            </a:r>
            <a:r>
              <a:rPr lang="zh-CN" altLang="en-US" sz="1600"/>
              <a:t>、大模型校验的语义关联边 </a:t>
            </a:r>
            <a:r>
              <a:rPr lang="en-US" altLang="zh-CN" sz="1600"/>
              <a:t>(.rel)</a:t>
            </a:r>
            <a:r>
              <a:rPr lang="zh-CN" altLang="en-US" sz="1600"/>
              <a:t>。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直接为复杂的多跳查询（</a:t>
            </a:r>
            <a:r>
              <a:rPr lang="en-US" altLang="zh-CN" sz="1600"/>
              <a:t>Join</a:t>
            </a:r>
            <a:r>
              <a:rPr lang="zh-CN" altLang="en-US" sz="1600"/>
              <a:t>）提供现成、精确的导航路线。</a:t>
            </a:r>
            <a:endParaRPr lang="zh-CN" altLang="en-US" sz="1600"/>
          </a:p>
          <a:p>
            <a:pPr lvl="1">
              <a:buFont typeface="Arial" panose="020B0604020202020204"/>
              <a:buChar char="◦"/>
            </a:pPr>
            <a:endParaRPr lang="zh-CN" altLang="en-US" sz="1600"/>
          </a:p>
          <a:p>
            <a:pPr marL="0" lvl="0" indent="0">
              <a:buFont typeface="Arial" panose="020B0604020202020204"/>
              <a:buNone/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业务认知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（节点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信息）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为每个表</a:t>
            </a:r>
            <a:r>
              <a:rPr lang="en-US" altLang="zh-CN" sz="1600"/>
              <a:t>/</a:t>
            </a:r>
            <a:r>
              <a:rPr lang="zh-CN" altLang="en-US" sz="1600"/>
              <a:t>列生成 </a:t>
            </a:r>
            <a:r>
              <a:rPr lang="en-US" altLang="zh-CN" sz="1600"/>
              <a:t>AI </a:t>
            </a:r>
            <a:r>
              <a:rPr lang="zh-CN" altLang="en-US" sz="1600"/>
              <a:t>总结</a:t>
            </a:r>
            <a:endParaRPr lang="en-US" altLang="zh-CN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模型直接读取就能理解数据库表列含义，不必猜测，防止</a:t>
            </a:r>
            <a:r>
              <a:rPr lang="en-US" altLang="zh-CN" sz="1600"/>
              <a:t>text2sql</a:t>
            </a:r>
            <a:r>
              <a:rPr lang="zh-CN" altLang="en-US" sz="1600"/>
              <a:t>中的幻觉和错误。</a:t>
            </a:r>
            <a:endParaRPr lang="zh-CN" altLang="en-US" sz="1600"/>
          </a:p>
        </p:txBody>
      </p:sp>
      <p:sp>
        <p:nvSpPr>
          <p:cNvPr id="38" name="矩形 37"/>
          <p:cNvSpPr/>
          <p:nvPr/>
        </p:nvSpPr>
        <p:spPr>
          <a:xfrm>
            <a:off x="2411730" y="5903595"/>
            <a:ext cx="7071995" cy="7270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zh-CN" altLang="en-US" sz="1200" b="1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语义层的信息提取应是模块化，灵活修改，便于拓展</a:t>
            </a:r>
            <a:r>
              <a:rPr lang="zh-CN" altLang="en-US" sz="1200" b="1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zh-CN" altLang="en-US" sz="1200" b="1" kern="0" spc="225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200" b="1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大模型通过读取这些信息，能够快速了解数据库结构，根据用户查询生成正确</a:t>
            </a:r>
            <a:r>
              <a:rPr lang="en-US" altLang="zh-CN" sz="1200" b="1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200" b="1" kern="0" spc="2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b="1" kern="0" spc="225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893060" y="412752"/>
            <a:ext cx="8405879" cy="922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系统整体</a:t>
            </a:r>
            <a:r>
              <a:rPr lang="zh-CN" altLang="en-US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3600" b="1" kern="0" spc="225" dirty="0">
              <a:solidFill>
                <a:srgbClr val="2E6FC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3205" y="1555750"/>
            <a:ext cx="8371840" cy="40309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Extractor——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语义层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初始建构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>
                <a:ea typeface="+mn-lt"/>
                <a:cs typeface="+mn-lt"/>
              </a:rPr>
              <a:t>多</a:t>
            </a:r>
            <a:r>
              <a:rPr lang="zh-CN" altLang="en-US" sz="1600">
                <a:ea typeface="+mn-lt"/>
                <a:cs typeface="+mn-lt"/>
              </a:rPr>
              <a:t>阶段提取流程（图谱节点提取</a:t>
            </a:r>
            <a:r>
              <a:rPr lang="en-US" altLang="zh-CN" sz="1600">
                <a:ea typeface="+mn-lt"/>
                <a:cs typeface="+mn-lt"/>
              </a:rPr>
              <a:t> -&gt; </a:t>
            </a:r>
            <a:r>
              <a:rPr lang="zh-CN" altLang="en-US" sz="1600">
                <a:ea typeface="+mn-lt"/>
                <a:cs typeface="+mn-lt"/>
              </a:rPr>
              <a:t>统计</a:t>
            </a:r>
            <a:r>
              <a:rPr lang="en-US" alt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  <a:sym typeface="+mn-ea"/>
              </a:rPr>
              <a:t>-&gt; </a:t>
            </a:r>
            <a:r>
              <a:rPr lang="zh-CN" altLang="en-US" sz="1600">
                <a:ea typeface="+mn-lt"/>
                <a:cs typeface="+mn-lt"/>
                <a:sym typeface="+mn-ea"/>
              </a:rPr>
              <a:t>节点</a:t>
            </a:r>
            <a:r>
              <a:rPr lang="zh-CN" altLang="en-US" sz="1600">
                <a:ea typeface="+mn-lt"/>
                <a:cs typeface="+mn-lt"/>
              </a:rPr>
              <a:t>关系检测</a:t>
            </a:r>
            <a:r>
              <a:rPr lang="en-US" alt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  <a:sym typeface="+mn-ea"/>
              </a:rPr>
              <a:t>-&gt;</a:t>
            </a:r>
            <a:r>
              <a:rPr lang="en-US" altLang="zh-CN" sz="1600">
                <a:ea typeface="+mn-lt"/>
                <a:cs typeface="+mn-lt"/>
              </a:rPr>
              <a:t> AI</a:t>
            </a:r>
            <a:r>
              <a:rPr lang="zh-CN" altLang="en-US" sz="1600">
                <a:ea typeface="+mn-lt"/>
                <a:cs typeface="+mn-lt"/>
              </a:rPr>
              <a:t>总结）。</a:t>
            </a:r>
            <a:endParaRPr lang="zh-CN" altLang="en-US" sz="16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API——LLM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的语义层访问接口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Font typeface="Arial" panose="020B0604020202020204"/>
              <a:buNone/>
            </a:pP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>
                <a:ea typeface="+mn-lt"/>
                <a:cs typeface="+mn-lt"/>
              </a:rPr>
              <a:t>模型通过统一的</a:t>
            </a:r>
            <a:r>
              <a:rPr lang="en-US" altLang="zh-CN" sz="1600">
                <a:ea typeface="+mn-lt"/>
                <a:cs typeface="+mn-lt"/>
              </a:rPr>
              <a:t>API</a:t>
            </a:r>
            <a:r>
              <a:rPr lang="zh-CN" altLang="en-US" sz="1600">
                <a:ea typeface="+mn-lt"/>
                <a:cs typeface="+mn-lt"/>
              </a:rPr>
              <a:t>在语义层上进行检索访问等操作，利用自身的</a:t>
            </a:r>
            <a:r>
              <a:rPr lang="en-US" altLang="zh-CN" sz="1600">
                <a:ea typeface="+mn-lt"/>
                <a:cs typeface="+mn-lt"/>
              </a:rPr>
              <a:t>agent</a:t>
            </a:r>
            <a:r>
              <a:rPr lang="zh-CN" altLang="en-US" sz="1600">
                <a:ea typeface="+mn-lt"/>
                <a:cs typeface="+mn-lt"/>
              </a:rPr>
              <a:t>工具调用能力，理解数据库结构。</a:t>
            </a:r>
            <a:endParaRPr lang="zh-CN" altLang="en-US" sz="16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ea typeface="+mn-lt"/>
                <a:cs typeface="+mn-lt"/>
              </a:rPr>
              <a:t>API </a:t>
            </a:r>
            <a:r>
              <a:rPr lang="zh-CN" altLang="en-US" sz="1600">
                <a:ea typeface="+mn-lt"/>
                <a:cs typeface="+mn-lt"/>
              </a:rPr>
              <a:t>应给模型提供完整访问语义知识图谱的能力，应包括图检索，语义检索，游走访问等关键技能。</a:t>
            </a:r>
            <a:endParaRPr lang="zh-CN" altLang="en-US" sz="16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Font typeface="Arial" panose="020B0604020202020204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反馈闭环</a:t>
            </a: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语义层的动态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更新：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Font typeface="Arial" panose="020B0604020202020204"/>
              <a:buNone/>
            </a:pP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语义层并非静态单次构建，而是在多智能体循环与用户反馈中不断迭代完善。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换言之，给予</a:t>
            </a:r>
            <a:r>
              <a:rPr lang="en-US" altLang="zh-CN" sz="1600"/>
              <a:t>agent</a:t>
            </a:r>
            <a:r>
              <a:rPr lang="zh-CN" altLang="en-US" sz="1600"/>
              <a:t>一定重写语义层的能力，随着</a:t>
            </a:r>
            <a:r>
              <a:rPr lang="en-US" altLang="zh-CN" sz="1600"/>
              <a:t>agent</a:t>
            </a:r>
            <a:r>
              <a:rPr lang="zh-CN" altLang="en-US" sz="1600"/>
              <a:t>回答问题的同时更新完善语义层</a:t>
            </a:r>
            <a:r>
              <a:rPr lang="zh-CN" altLang="en-US" sz="1600"/>
              <a:t>信息。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1893060" y="412752"/>
            <a:ext cx="8405879" cy="922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altLang="en-US" sz="3600" b="1" kern="0" spc="225" dirty="0">
                <a:solidFill>
                  <a:srgbClr val="2E6F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目前进展</a:t>
            </a:r>
            <a:endParaRPr lang="zh-CN" altLang="en-US" sz="3600" b="1" kern="0" spc="225" dirty="0">
              <a:solidFill>
                <a:srgbClr val="2E6FC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3205" y="1555750"/>
            <a:ext cx="8371840" cy="37846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已完成工作：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ea typeface="+mn-lt"/>
                <a:cs typeface="+mn-lt"/>
              </a:rPr>
              <a:t>Extractor</a:t>
            </a:r>
            <a:r>
              <a:rPr lang="en-US" altLang="zh-CN" sz="1600">
                <a:ea typeface="+mn-lt"/>
                <a:cs typeface="+mn-lt"/>
              </a:rPr>
              <a:t> </a:t>
            </a:r>
            <a:r>
              <a:rPr lang="zh-CN" altLang="en-US" sz="1600">
                <a:ea typeface="+mn-lt"/>
                <a:cs typeface="+mn-lt"/>
              </a:rPr>
              <a:t>语义层图谱提取</a:t>
            </a:r>
            <a:r>
              <a:rPr lang="zh-CN" altLang="en-US" sz="1600">
                <a:ea typeface="+mn-lt"/>
                <a:cs typeface="+mn-lt"/>
              </a:rPr>
              <a:t>生成脚本（</a:t>
            </a:r>
            <a:r>
              <a:rPr lang="en-US" altLang="zh-CN" sz="1600">
                <a:ea typeface="+mn-lt"/>
                <a:cs typeface="+mn-lt"/>
              </a:rPr>
              <a:t>9 </a:t>
            </a:r>
            <a:r>
              <a:rPr lang="zh-CN" altLang="en-US" sz="1600">
                <a:ea typeface="+mn-lt"/>
                <a:cs typeface="+mn-lt"/>
              </a:rPr>
              <a:t>个提取模块）。</a:t>
            </a:r>
            <a:endParaRPr lang="zh-CN" altLang="en-US" sz="16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ea typeface="+mn-lt"/>
                <a:cs typeface="+mn-lt"/>
              </a:rPr>
              <a:t>VFS </a:t>
            </a:r>
            <a:r>
              <a:rPr lang="zh-CN" altLang="en-US" sz="1600" b="1">
                <a:ea typeface="+mn-lt"/>
                <a:cs typeface="+mn-lt"/>
              </a:rPr>
              <a:t>语义层抽象存储</a:t>
            </a:r>
            <a:r>
              <a:rPr lang="zh-CN" altLang="en-US" sz="1600">
                <a:ea typeface="+mn-lt"/>
                <a:cs typeface="+mn-lt"/>
              </a:rPr>
              <a:t>。</a:t>
            </a:r>
            <a:endParaRPr lang="zh-CN" altLang="en-US" sz="16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ea typeface="+mn-lt"/>
                <a:cs typeface="+mn-lt"/>
              </a:rPr>
              <a:t>Agent </a:t>
            </a:r>
            <a:r>
              <a:rPr lang="zh-CN" altLang="en-US" sz="1600" b="1">
                <a:ea typeface="+mn-lt"/>
                <a:cs typeface="+mn-lt"/>
              </a:rPr>
              <a:t>核心工具链</a:t>
            </a:r>
            <a:r>
              <a:rPr lang="zh-CN" altLang="en-US" sz="1600">
                <a:ea typeface="+mn-lt"/>
                <a:cs typeface="+mn-lt"/>
              </a:rPr>
              <a:t>（</a:t>
            </a:r>
            <a:r>
              <a:rPr lang="en-US" altLang="zh-CN" sz="1600">
                <a:ea typeface="+mn-lt"/>
                <a:cs typeface="+mn-lt"/>
              </a:rPr>
              <a:t>grep</a:t>
            </a:r>
            <a:r>
              <a:rPr lang="zh-CN" altLang="en-US" sz="1600">
                <a:ea typeface="+mn-lt"/>
                <a:cs typeface="+mn-lt"/>
              </a:rPr>
              <a:t>、</a:t>
            </a:r>
            <a:r>
              <a:rPr lang="en-US" altLang="zh-CN" sz="1600">
                <a:ea typeface="+mn-lt"/>
                <a:cs typeface="+mn-lt"/>
              </a:rPr>
              <a:t>glob</a:t>
            </a:r>
            <a:r>
              <a:rPr lang="zh-CN" altLang="en-US" sz="1600">
                <a:ea typeface="+mn-lt"/>
                <a:cs typeface="+mn-lt"/>
              </a:rPr>
              <a:t>等</a:t>
            </a:r>
            <a:r>
              <a:rPr lang="zh-CN" altLang="en-US" sz="1600">
                <a:ea typeface="+mn-lt"/>
                <a:cs typeface="+mn-lt"/>
              </a:rPr>
              <a:t>简单检索工具，图谱访问工具，其他</a:t>
            </a:r>
            <a:r>
              <a:rPr lang="en-US" altLang="zh-CN" sz="1600">
                <a:ea typeface="+mn-lt"/>
                <a:cs typeface="+mn-lt"/>
              </a:rPr>
              <a:t>agent</a:t>
            </a:r>
            <a:r>
              <a:rPr lang="zh-CN" altLang="en-US" sz="1600">
                <a:ea typeface="+mn-lt"/>
                <a:cs typeface="+mn-lt"/>
              </a:rPr>
              <a:t>基础工具）</a:t>
            </a:r>
            <a:endParaRPr lang="en-US" altLang="zh-CN" sz="16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ea typeface="+mn-lt"/>
                <a:cs typeface="+mn-lt"/>
              </a:rPr>
              <a:t>Web </a:t>
            </a:r>
            <a:r>
              <a:rPr lang="zh-CN" altLang="en-US" sz="1600" b="1">
                <a:ea typeface="+mn-lt"/>
                <a:cs typeface="+mn-lt"/>
              </a:rPr>
              <a:t>前端流式交互</a:t>
            </a:r>
            <a:r>
              <a:rPr lang="zh-CN" altLang="en-US" sz="1600">
                <a:ea typeface="+mn-lt"/>
                <a:cs typeface="+mn-lt"/>
              </a:rPr>
              <a:t>。</a:t>
            </a:r>
            <a:endParaRPr lang="zh-CN" altLang="en-US" sz="1600">
              <a:ea typeface="+mn-lt"/>
              <a:cs typeface="+mn-lt"/>
            </a:endParaRPr>
          </a:p>
          <a:p>
            <a:pPr marL="0" lvl="0" indent="0">
              <a:buFont typeface="Arial" panose="020B0604020202020204"/>
              <a:buNone/>
            </a:pP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Font typeface="Arial" panose="020B0604020202020204"/>
              <a:buNone/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待完成</a:t>
            </a: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buFont typeface="Arial" panose="020B0604020202020204"/>
              <a:buNone/>
            </a:pP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语义检索工具</a:t>
            </a:r>
            <a:r>
              <a:rPr lang="zh-CN" altLang="en-US" sz="1600"/>
              <a:t>：需要同时结合知识图谱的文本语义和图结构来</a:t>
            </a:r>
            <a:r>
              <a:rPr lang="zh-CN" altLang="en-US" sz="1600"/>
              <a:t>设计检索算法，有待后续图结构稳定后</a:t>
            </a:r>
            <a:r>
              <a:rPr lang="zh-CN" altLang="en-US" sz="1600"/>
              <a:t>完成。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上下文管理</a:t>
            </a:r>
            <a:r>
              <a:rPr lang="zh-CN" altLang="en-US" sz="1600"/>
              <a:t>：</a:t>
            </a:r>
            <a:r>
              <a:rPr lang="en-US" altLang="zh-CN" sz="1600"/>
              <a:t>Agent </a:t>
            </a:r>
            <a:r>
              <a:rPr lang="zh-CN" altLang="en-US" sz="1600"/>
              <a:t>暂无多轮对话上下文压缩机制。</a:t>
            </a:r>
            <a:endParaRPr lang="zh-CN" altLang="en-US" sz="16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/>
              <a:t>Agent </a:t>
            </a:r>
            <a:r>
              <a:rPr lang="zh-CN" altLang="en-US" sz="1600" b="1"/>
              <a:t>回写能力</a:t>
            </a:r>
            <a:r>
              <a:rPr lang="zh-CN" altLang="en-US" sz="1600"/>
              <a:t>：使</a:t>
            </a:r>
            <a:r>
              <a:rPr lang="en-US" altLang="zh-CN" sz="1600"/>
              <a:t>Agent</a:t>
            </a:r>
            <a:r>
              <a:rPr lang="zh-CN" altLang="en-US" sz="1600"/>
              <a:t>具有基于自身理解更新完善语义层能力，涉及到权限控制，</a:t>
            </a:r>
            <a:r>
              <a:rPr lang="en-US" altLang="zh-CN" sz="1600"/>
              <a:t>Agent</a:t>
            </a:r>
            <a:r>
              <a:rPr lang="zh-CN" altLang="en-US" sz="1600"/>
              <a:t>流程设计，多智能体等问题，需要重点</a:t>
            </a:r>
            <a:r>
              <a:rPr lang="zh-CN" altLang="en-US" sz="1600"/>
              <a:t>完成。</a:t>
            </a:r>
            <a:endParaRPr lang="zh-CN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5430000" y="4370791"/>
            <a:ext cx="1332000" cy="13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57604" y="2066075"/>
            <a:ext cx="7652152" cy="1721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  <a:defRPr/>
            </a:pPr>
            <a:r>
              <a:rPr lang="zh-CN" altLang="en-US" sz="8000" b="1" kern="0" spc="225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谢谢大家！</a:t>
            </a:r>
            <a:endParaRPr kumimoji="0" lang="zh-CN" altLang="en-US" sz="5400" b="1" i="0" u="none" strike="noStrike" kern="0" cap="none" spc="2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538000" y="4484265"/>
            <a:ext cx="1116000" cy="1116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729"/>
          <a:stretch>
            <a:fillRect/>
          </a:stretch>
        </p:blipFill>
        <p:spPr>
          <a:xfrm>
            <a:off x="5689646" y="4634082"/>
            <a:ext cx="812708" cy="79807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2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3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4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5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6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7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8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9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0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1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2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3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4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5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6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7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8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19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20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ags/tag21.xml><?xml version="1.0" encoding="utf-8"?>
<p:tagLst xmlns:p="http://schemas.openxmlformats.org/presentationml/2006/main">
  <p:tag name="KSO_WM_DIAGRAM_VIRTUALLY_FRAME" val="{&quot;height&quot;:374.80000000000007,&quot;left&quot;:62.39866141732282,&quot;top&quot;:112.99921259842513,&quot;width&quot;:853.606377952755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</Words>
  <Application>WPS 演示</Application>
  <PresentationFormat>宽屏</PresentationFormat>
  <Paragraphs>96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等线</vt:lpstr>
      <vt:lpstr>Arial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Taniaq;李一鸣;沈智然</dc:creator>
  <cp:lastModifiedBy>陈必纯</cp:lastModifiedBy>
  <cp:revision>47</cp:revision>
  <dcterms:created xsi:type="dcterms:W3CDTF">2022-05-23T10:27:00Z</dcterms:created>
  <dcterms:modified xsi:type="dcterms:W3CDTF">2026-04-19T12:54:13Z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7F24431B9FCB4E4F84C5F676F3924287_12</vt:lpwstr>
  </property>
  <property fmtid="{D5CDD505-2E9C-101B-9397-08002B2CF9AE}" pid="3" name="KSOProductBuildVer">
    <vt:lpwstr>2052-12.1.0.23542</vt:lpwstr>
  </property>
</Properties>
</file>